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443" r:id="rId2"/>
    <p:sldId id="258" r:id="rId3"/>
    <p:sldId id="452" r:id="rId4"/>
    <p:sldId id="459" r:id="rId5"/>
    <p:sldId id="432" r:id="rId6"/>
    <p:sldId id="457" r:id="rId7"/>
    <p:sldId id="453" r:id="rId8"/>
    <p:sldId id="458" r:id="rId9"/>
    <p:sldId id="454" r:id="rId10"/>
    <p:sldId id="456" r:id="rId11"/>
    <p:sldId id="451" r:id="rId12"/>
    <p:sldId id="455" r:id="rId13"/>
    <p:sldId id="460" r:id="rId14"/>
    <p:sldId id="462" r:id="rId15"/>
    <p:sldId id="461" r:id="rId16"/>
    <p:sldId id="463" r:id="rId17"/>
  </p:sldIdLst>
  <p:sldSz cx="9144000" cy="5143500" type="screen16x9"/>
  <p:notesSz cx="6858000" cy="9144000"/>
  <p:defaultTextStyle>
    <a:defPPr>
      <a:defRPr lang="nb-NO"/>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AC76"/>
    <a:srgbClr val="0D347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25" autoAdjust="0"/>
    <p:restoredTop sz="90113" autoAdjust="0"/>
  </p:normalViewPr>
  <p:slideViewPr>
    <p:cSldViewPr snapToGrid="0" snapToObjects="1">
      <p:cViewPr varScale="1">
        <p:scale>
          <a:sx n="114" d="100"/>
          <a:sy n="114" d="100"/>
        </p:scale>
        <p:origin x="1172" y="6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3D6C8D-68F1-4AC6-A011-F2775984B63D}" type="datetimeFigureOut">
              <a:rPr lang="en-150" smtClean="0"/>
              <a:t>04/04/2024</a:t>
            </a:fld>
            <a:endParaRPr lang="en-150"/>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150"/>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E40BD-713A-40BE-BD33-32C4F5B874CF}" type="slidenum">
              <a:rPr lang="en-150" smtClean="0"/>
              <a:t>‹#›</a:t>
            </a:fld>
            <a:endParaRPr lang="en-150"/>
          </a:p>
        </p:txBody>
      </p:sp>
    </p:spTree>
    <p:extLst>
      <p:ext uri="{BB962C8B-B14F-4D97-AF65-F5344CB8AC3E}">
        <p14:creationId xmlns:p14="http://schemas.microsoft.com/office/powerpoint/2010/main" val="218255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368315" y="2008061"/>
            <a:ext cx="7772400" cy="675821"/>
          </a:xfrm>
        </p:spPr>
        <p:txBody>
          <a:bodyPr anchor="t" anchorCtr="0"/>
          <a:lstStyle/>
          <a:p>
            <a:r>
              <a:rPr lang="nb-NO" dirty="0"/>
              <a:t>Klikk for å redigere tittelstil</a:t>
            </a:r>
          </a:p>
        </p:txBody>
      </p:sp>
      <p:sp>
        <p:nvSpPr>
          <p:cNvPr id="3" name="Undertittel 2"/>
          <p:cNvSpPr>
            <a:spLocks noGrp="1"/>
          </p:cNvSpPr>
          <p:nvPr>
            <p:ph type="subTitle" idx="1"/>
          </p:nvPr>
        </p:nvSpPr>
        <p:spPr>
          <a:xfrm>
            <a:off x="368315" y="2733866"/>
            <a:ext cx="7772400" cy="131445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b-NO" dirty="0"/>
              <a:t>Klikk for å redigere undertittelstil i malen</a:t>
            </a:r>
          </a:p>
        </p:txBody>
      </p:sp>
    </p:spTree>
    <p:extLst>
      <p:ext uri="{BB962C8B-B14F-4D97-AF65-F5344CB8AC3E}">
        <p14:creationId xmlns:p14="http://schemas.microsoft.com/office/powerpoint/2010/main" val="1000159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5120" y="4837708"/>
            <a:ext cx="342081" cy="189077"/>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b="1" i="0" smtClean="0">
                <a:solidFill>
                  <a:schemeClr val="bg1"/>
                </a:solidFill>
                <a:latin typeface="Arial"/>
                <a:cs typeface="Arial"/>
              </a:rPr>
              <a:pPr algn="ctr"/>
              <a:t>‹#›</a:t>
            </a:fld>
            <a:endParaRPr lang="nb-NO" b="1" i="0" dirty="0">
              <a:solidFill>
                <a:schemeClr val="bg1"/>
              </a:solidFill>
              <a:latin typeface="Arial"/>
              <a:cs typeface="Arial"/>
            </a:endParaRPr>
          </a:p>
        </p:txBody>
      </p:sp>
      <p:sp>
        <p:nvSpPr>
          <p:cNvPr id="5" name="Tittel 1">
            <a:extLst>
              <a:ext uri="{FF2B5EF4-FFF2-40B4-BE49-F238E27FC236}">
                <a16:creationId xmlns:a16="http://schemas.microsoft.com/office/drawing/2014/main" id="{DAD5656F-EF39-BD40-B46F-28C614BEB82E}"/>
              </a:ext>
            </a:extLst>
          </p:cNvPr>
          <p:cNvSpPr>
            <a:spLocks noGrp="1"/>
          </p:cNvSpPr>
          <p:nvPr>
            <p:ph type="title"/>
          </p:nvPr>
        </p:nvSpPr>
        <p:spPr>
          <a:xfrm>
            <a:off x="301385" y="298339"/>
            <a:ext cx="8418747" cy="648512"/>
          </a:xfrm>
          <a:prstGeom prst="rect">
            <a:avLst/>
          </a:prstGeom>
        </p:spPr>
        <p:txBody>
          <a:bodyPr wrap="square" lIns="90000" tIns="46800" rIns="90000" bIns="46800"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F5D824DA-FDAB-4E4D-80C7-D81149C33E39}"/>
              </a:ext>
            </a:extLst>
          </p:cNvPr>
          <p:cNvSpPr>
            <a:spLocks noGrp="1"/>
          </p:cNvSpPr>
          <p:nvPr>
            <p:ph idx="1"/>
          </p:nvPr>
        </p:nvSpPr>
        <p:spPr>
          <a:xfrm>
            <a:off x="301385" y="1010266"/>
            <a:ext cx="8418747" cy="3613774"/>
          </a:xfrm>
          <a:prstGeom prst="rect">
            <a:avLst/>
          </a:prstGeom>
        </p:spPr>
        <p:txBody>
          <a:bodyPr lIns="90000" tIns="46800" rIns="90000" bIns="46800">
            <a:no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060019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ndelingsoverskrift">
    <p:spTree>
      <p:nvGrpSpPr>
        <p:cNvPr id="1" name=""/>
        <p:cNvGrpSpPr/>
        <p:nvPr/>
      </p:nvGrpSpPr>
      <p:grpSpPr>
        <a:xfrm>
          <a:off x="0" y="0"/>
          <a:ext cx="0" cy="0"/>
          <a:chOff x="0" y="0"/>
          <a:chExt cx="0" cy="0"/>
        </a:xfrm>
      </p:grpSpPr>
      <p:sp>
        <p:nvSpPr>
          <p:cNvPr id="2" name="Tittel 1"/>
          <p:cNvSpPr>
            <a:spLocks noGrp="1"/>
          </p:cNvSpPr>
          <p:nvPr>
            <p:ph type="title"/>
          </p:nvPr>
        </p:nvSpPr>
        <p:spPr>
          <a:xfrm>
            <a:off x="722313" y="3305176"/>
            <a:ext cx="7772400" cy="1021556"/>
          </a:xfrm>
        </p:spPr>
        <p:txBody>
          <a:bodyPr anchor="t"/>
          <a:lstStyle>
            <a:lvl1pPr algn="l">
              <a:defRPr sz="4000" b="1" cap="all"/>
            </a:lvl1pPr>
          </a:lstStyle>
          <a:p>
            <a:r>
              <a:rPr lang="nb-NO"/>
              <a:t>Klikk for å redigere tittelstil</a:t>
            </a:r>
          </a:p>
        </p:txBody>
      </p:sp>
      <p:sp>
        <p:nvSpPr>
          <p:cNvPr id="3" name="Plassholder for tekst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b-NO"/>
              <a:t>Klikk for å redigere tekststiler i malen</a:t>
            </a:r>
          </a:p>
        </p:txBody>
      </p:sp>
    </p:spTree>
    <p:extLst>
      <p:ext uri="{BB962C8B-B14F-4D97-AF65-F5344CB8AC3E}">
        <p14:creationId xmlns:p14="http://schemas.microsoft.com/office/powerpoint/2010/main" val="2982460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29357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4" name="Plassholder for innhold 3"/>
          <p:cNvSpPr>
            <a:spLocks noGrp="1"/>
          </p:cNvSpPr>
          <p:nvPr>
            <p:ph sz="half" idx="2"/>
          </p:nvPr>
        </p:nvSpPr>
        <p:spPr>
          <a:xfrm>
            <a:off x="448457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1372914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7" name="Tittel 1">
            <a:extLst>
              <a:ext uri="{FF2B5EF4-FFF2-40B4-BE49-F238E27FC236}">
                <a16:creationId xmlns:a16="http://schemas.microsoft.com/office/drawing/2014/main" id="{5FCB9A19-4BFE-AD46-9DE5-76595BDCB3F3}"/>
              </a:ext>
            </a:extLst>
          </p:cNvPr>
          <p:cNvSpPr>
            <a:spLocks noGrp="1"/>
          </p:cNvSpPr>
          <p:nvPr>
            <p:ph type="title"/>
          </p:nvPr>
        </p:nvSpPr>
        <p:spPr>
          <a:xfrm>
            <a:off x="280219" y="205979"/>
            <a:ext cx="8229600" cy="646331"/>
          </a:xfrm>
        </p:spPr>
        <p:txBody>
          <a:bodyPr/>
          <a:lstStyle>
            <a:lvl1pPr>
              <a:defRPr/>
            </a:lvl1pPr>
          </a:lstStyle>
          <a:p>
            <a:r>
              <a:rPr lang="nb-NO"/>
              <a:t>Klikk for å redigere tittelstil</a:t>
            </a:r>
          </a:p>
        </p:txBody>
      </p:sp>
      <p:sp>
        <p:nvSpPr>
          <p:cNvPr id="8" name="Plassholder for innhold 3">
            <a:extLst>
              <a:ext uri="{FF2B5EF4-FFF2-40B4-BE49-F238E27FC236}">
                <a16:creationId xmlns:a16="http://schemas.microsoft.com/office/drawing/2014/main" id="{DF7D3BBE-AAF2-5744-8C3F-D3AF14E50866}"/>
              </a:ext>
            </a:extLst>
          </p:cNvPr>
          <p:cNvSpPr>
            <a:spLocks noGrp="1"/>
          </p:cNvSpPr>
          <p:nvPr>
            <p:ph sz="half" idx="2"/>
          </p:nvPr>
        </p:nvSpPr>
        <p:spPr>
          <a:xfrm>
            <a:off x="280219" y="1444342"/>
            <a:ext cx="4040188" cy="336363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9" name="Plassholder for tekst 4">
            <a:extLst>
              <a:ext uri="{FF2B5EF4-FFF2-40B4-BE49-F238E27FC236}">
                <a16:creationId xmlns:a16="http://schemas.microsoft.com/office/drawing/2014/main" id="{6B66B91E-5343-3043-B4C9-81ABDFE8F091}"/>
              </a:ext>
            </a:extLst>
          </p:cNvPr>
          <p:cNvSpPr>
            <a:spLocks noGrp="1"/>
          </p:cNvSpPr>
          <p:nvPr>
            <p:ph type="body" sz="quarter" idx="3"/>
          </p:nvPr>
        </p:nvSpPr>
        <p:spPr>
          <a:xfrm>
            <a:off x="4468045" y="964522"/>
            <a:ext cx="4041775" cy="479822"/>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dirty="0"/>
              <a:t>Klikk for å redigere</a:t>
            </a:r>
          </a:p>
        </p:txBody>
      </p:sp>
      <p:sp>
        <p:nvSpPr>
          <p:cNvPr id="10" name="Plassholder for innhold 5">
            <a:extLst>
              <a:ext uri="{FF2B5EF4-FFF2-40B4-BE49-F238E27FC236}">
                <a16:creationId xmlns:a16="http://schemas.microsoft.com/office/drawing/2014/main" id="{3853BC78-AB65-9F41-B56D-07FFF98E2281}"/>
              </a:ext>
            </a:extLst>
          </p:cNvPr>
          <p:cNvSpPr>
            <a:spLocks noGrp="1"/>
          </p:cNvSpPr>
          <p:nvPr>
            <p:ph sz="quarter" idx="4"/>
          </p:nvPr>
        </p:nvSpPr>
        <p:spPr>
          <a:xfrm>
            <a:off x="4468045" y="1444342"/>
            <a:ext cx="4041775" cy="336363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11" name="Plassholder for tekst 4">
            <a:extLst>
              <a:ext uri="{FF2B5EF4-FFF2-40B4-BE49-F238E27FC236}">
                <a16:creationId xmlns:a16="http://schemas.microsoft.com/office/drawing/2014/main" id="{2B6B33E9-15E0-1843-916A-9DD6788569F0}"/>
              </a:ext>
            </a:extLst>
          </p:cNvPr>
          <p:cNvSpPr>
            <a:spLocks noGrp="1"/>
          </p:cNvSpPr>
          <p:nvPr>
            <p:ph type="body" sz="quarter" idx="10"/>
          </p:nvPr>
        </p:nvSpPr>
        <p:spPr>
          <a:xfrm>
            <a:off x="280218" y="964521"/>
            <a:ext cx="4041775" cy="479822"/>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dirty="0"/>
              <a:t>Klikk for å redigere</a:t>
            </a:r>
          </a:p>
        </p:txBody>
      </p:sp>
    </p:spTree>
    <p:extLst>
      <p:ext uri="{BB962C8B-B14F-4D97-AF65-F5344CB8AC3E}">
        <p14:creationId xmlns:p14="http://schemas.microsoft.com/office/powerpoint/2010/main" val="702236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Tree>
    <p:extLst>
      <p:ext uri="{BB962C8B-B14F-4D97-AF65-F5344CB8AC3E}">
        <p14:creationId xmlns:p14="http://schemas.microsoft.com/office/powerpoint/2010/main" val="3172249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9718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457201" y="204787"/>
            <a:ext cx="3008313" cy="871538"/>
          </a:xfrm>
        </p:spPr>
        <p:txBody>
          <a:bodyPr anchor="b"/>
          <a:lstStyle>
            <a:lvl1pPr algn="l">
              <a:defRPr sz="2000" b="1"/>
            </a:lvl1pPr>
          </a:lstStyle>
          <a:p>
            <a:r>
              <a:rPr lang="nb-NO"/>
              <a:t>Klikk for å redigere tittelstil</a:t>
            </a:r>
          </a:p>
        </p:txBody>
      </p:sp>
      <p:sp>
        <p:nvSpPr>
          <p:cNvPr id="3" name="Plassholder for innhold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a:t>Klikk for å redigere tekststiler i malen</a:t>
            </a:r>
          </a:p>
        </p:txBody>
      </p:sp>
    </p:spTree>
    <p:extLst>
      <p:ext uri="{BB962C8B-B14F-4D97-AF65-F5344CB8AC3E}">
        <p14:creationId xmlns:p14="http://schemas.microsoft.com/office/powerpoint/2010/main" val="159648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1792288" y="3600450"/>
            <a:ext cx="5486400" cy="425054"/>
          </a:xfrm>
        </p:spPr>
        <p:txBody>
          <a:bodyPr anchor="b"/>
          <a:lstStyle>
            <a:lvl1pPr algn="l">
              <a:defRPr sz="2000" b="1"/>
            </a:lvl1pPr>
          </a:lstStyle>
          <a:p>
            <a:r>
              <a:rPr lang="nb-NO"/>
              <a:t>Klikk for å redigere tittelstil</a:t>
            </a:r>
          </a:p>
        </p:txBody>
      </p:sp>
      <p:sp>
        <p:nvSpPr>
          <p:cNvPr id="3" name="Plassholder for bilde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a:t>Klikk for å redigere tekststiler i malen</a:t>
            </a:r>
          </a:p>
        </p:txBody>
      </p:sp>
    </p:spTree>
    <p:extLst>
      <p:ext uri="{BB962C8B-B14F-4D97-AF65-F5344CB8AC3E}">
        <p14:creationId xmlns:p14="http://schemas.microsoft.com/office/powerpoint/2010/main" val="3532236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1983850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6629400" y="205979"/>
            <a:ext cx="2057400" cy="4388644"/>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457200" y="205979"/>
            <a:ext cx="6019800" cy="4388644"/>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0318319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C0270E-135E-5E4E-905B-7A758610BBDF}" type="datetime1">
              <a:rPr lang="nb-NO" smtClean="0"/>
              <a:t>04.04.2024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B0E32-7FB0-4967-8EA9-3794B84EEDC2}" type="slidenum">
              <a:rPr lang="en-US" smtClean="0"/>
              <a:t>‹#›</a:t>
            </a:fld>
            <a:endParaRPr lang="en-US"/>
          </a:p>
        </p:txBody>
      </p:sp>
    </p:spTree>
    <p:extLst>
      <p:ext uri="{BB962C8B-B14F-4D97-AF65-F5344CB8AC3E}">
        <p14:creationId xmlns:p14="http://schemas.microsoft.com/office/powerpoint/2010/main" val="4019401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293570" y="205979"/>
            <a:ext cx="8532795" cy="646331"/>
          </a:xfrm>
          <a:prstGeom prst="rect">
            <a:avLst/>
          </a:prstGeom>
        </p:spPr>
        <p:txBody>
          <a:bodyPr vert="horz" wrap="square" lIns="91440" tIns="45720" rIns="91440" bIns="45720" rtlCol="0" anchor="t" anchorCtr="0">
            <a:spAutoFit/>
          </a:bodyPr>
          <a:lstStyle/>
          <a:p>
            <a:r>
              <a:rPr lang="nb-NO" dirty="0"/>
              <a:t>Klikk for å redigere tittelstil</a:t>
            </a:r>
          </a:p>
        </p:txBody>
      </p:sp>
      <p:sp>
        <p:nvSpPr>
          <p:cNvPr id="3" name="Plassholder for tekst 2"/>
          <p:cNvSpPr>
            <a:spLocks noGrp="1"/>
          </p:cNvSpPr>
          <p:nvPr>
            <p:ph type="body" idx="1"/>
          </p:nvPr>
        </p:nvSpPr>
        <p:spPr>
          <a:xfrm>
            <a:off x="293570" y="943276"/>
            <a:ext cx="8532795" cy="3651347"/>
          </a:xfrm>
          <a:prstGeom prst="rect">
            <a:avLst/>
          </a:prstGeom>
        </p:spPr>
        <p:txBody>
          <a:bodyPr vert="horz" lIns="91440" tIns="45720" rIns="91440" bIns="45720" rtlCol="0">
            <a:norm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pic>
        <p:nvPicPr>
          <p:cNvPr id="4" name="Bilde 3" descr="hor_blaa_stripe.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4783836"/>
            <a:ext cx="9144000" cy="359664"/>
          </a:xfrm>
          <a:prstGeom prst="rect">
            <a:avLst/>
          </a:prstGeom>
        </p:spPr>
      </p:pic>
    </p:spTree>
    <p:extLst>
      <p:ext uri="{BB962C8B-B14F-4D97-AF65-F5344CB8AC3E}">
        <p14:creationId xmlns:p14="http://schemas.microsoft.com/office/powerpoint/2010/main" val="5777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3600" b="1" i="0" kern="1200">
          <a:solidFill>
            <a:schemeClr val="tx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b-NO"/>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ctrTitle"/>
          </p:nvPr>
        </p:nvSpPr>
        <p:spPr>
          <a:xfrm>
            <a:off x="1267185" y="1100411"/>
            <a:ext cx="7772400" cy="1261884"/>
          </a:xfrm>
        </p:spPr>
        <p:txBody>
          <a:bodyPr/>
          <a:lstStyle/>
          <a:p>
            <a:r>
              <a:rPr lang="nb-NO" sz="2800" dirty="0">
                <a:solidFill>
                  <a:schemeClr val="accent1">
                    <a:lumMod val="50000"/>
                  </a:schemeClr>
                </a:solidFill>
              </a:rPr>
              <a:t>IDIG4004:</a:t>
            </a:r>
            <a:br>
              <a:rPr lang="nb-NO" sz="2800" dirty="0">
                <a:solidFill>
                  <a:schemeClr val="accent1">
                    <a:lumMod val="50000"/>
                  </a:schemeClr>
                </a:solidFill>
              </a:rPr>
            </a:br>
            <a:r>
              <a:rPr lang="nb-NO" sz="2800" dirty="0">
                <a:solidFill>
                  <a:schemeClr val="accent1">
                    <a:lumMod val="50000"/>
                  </a:schemeClr>
                </a:solidFill>
              </a:rPr>
              <a:t>Computer </a:t>
            </a:r>
            <a:r>
              <a:rPr lang="nb-NO" sz="2800" dirty="0" err="1">
                <a:solidFill>
                  <a:schemeClr val="accent1">
                    <a:lumMod val="50000"/>
                  </a:schemeClr>
                </a:solidFill>
              </a:rPr>
              <a:t>Vision</a:t>
            </a:r>
            <a:r>
              <a:rPr lang="nb-NO" sz="2800" dirty="0">
                <a:solidFill>
                  <a:schemeClr val="accent1">
                    <a:lumMod val="50000"/>
                  </a:schemeClr>
                </a:solidFill>
              </a:rPr>
              <a:t> and Applications</a:t>
            </a:r>
            <a:br>
              <a:rPr lang="nb-NO" dirty="0">
                <a:solidFill>
                  <a:schemeClr val="accent1">
                    <a:lumMod val="50000"/>
                  </a:schemeClr>
                </a:solidFill>
              </a:rPr>
            </a:br>
            <a:r>
              <a:rPr lang="nb-NO" sz="2000" dirty="0"/>
              <a:t>Spring 2024</a:t>
            </a:r>
            <a:endParaRPr lang="nb-NO" dirty="0"/>
          </a:p>
        </p:txBody>
      </p:sp>
      <p:sp>
        <p:nvSpPr>
          <p:cNvPr id="3" name="Undertittel 2"/>
          <p:cNvSpPr>
            <a:spLocks noGrp="1"/>
          </p:cNvSpPr>
          <p:nvPr>
            <p:ph type="subTitle" idx="1"/>
          </p:nvPr>
        </p:nvSpPr>
        <p:spPr>
          <a:xfrm>
            <a:off x="1267186" y="2743199"/>
            <a:ext cx="7399737" cy="1003009"/>
          </a:xfrm>
        </p:spPr>
        <p:txBody>
          <a:bodyPr>
            <a:normAutofit/>
          </a:bodyPr>
          <a:lstStyle/>
          <a:p>
            <a:r>
              <a:rPr lang="nb-NO" b="1" dirty="0">
                <a:solidFill>
                  <a:schemeClr val="accent1">
                    <a:lumMod val="50000"/>
                  </a:schemeClr>
                </a:solidFill>
              </a:rPr>
              <a:t>Part 7: </a:t>
            </a:r>
            <a:r>
              <a:rPr lang="nb-NO" b="1" dirty="0" err="1">
                <a:solidFill>
                  <a:schemeClr val="accent1">
                    <a:lumMod val="50000"/>
                  </a:schemeClr>
                </a:solidFill>
              </a:rPr>
              <a:t>Explainable</a:t>
            </a:r>
            <a:r>
              <a:rPr lang="nb-NO" b="1" dirty="0">
                <a:solidFill>
                  <a:schemeClr val="accent1">
                    <a:lumMod val="50000"/>
                  </a:schemeClr>
                </a:solidFill>
              </a:rPr>
              <a:t> AI (XAI)</a:t>
            </a:r>
            <a:endParaRPr lang="nb-NO" dirty="0"/>
          </a:p>
        </p:txBody>
      </p:sp>
    </p:spTree>
    <p:extLst>
      <p:ext uri="{BB962C8B-B14F-4D97-AF65-F5344CB8AC3E}">
        <p14:creationId xmlns:p14="http://schemas.microsoft.com/office/powerpoint/2010/main" val="2409049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NZ" dirty="0"/>
          </a:p>
        </p:txBody>
      </p:sp>
      <p:sp>
        <p:nvSpPr>
          <p:cNvPr id="3" name="Content Placeholder 2"/>
          <p:cNvSpPr>
            <a:spLocks noGrp="1"/>
          </p:cNvSpPr>
          <p:nvPr>
            <p:ph idx="1"/>
          </p:nvPr>
        </p:nvSpPr>
        <p:spPr/>
        <p:txBody>
          <a:bodyPr>
            <a:normAutofit/>
          </a:bodyPr>
          <a:lstStyle/>
          <a:p>
            <a:r>
              <a:rPr lang="en-US" sz="1600" dirty="0"/>
              <a:t>Definitions, why explainability?</a:t>
            </a:r>
          </a:p>
          <a:p>
            <a:r>
              <a:rPr lang="en-US" sz="1600" dirty="0"/>
              <a:t>Inherently interpretable models</a:t>
            </a:r>
          </a:p>
          <a:p>
            <a:r>
              <a:rPr lang="en-US" sz="1600" dirty="0"/>
              <a:t>XAI techniques: Saliency maps, SHAP, LIME, concept bottleneck</a:t>
            </a:r>
          </a:p>
          <a:p>
            <a:r>
              <a:rPr lang="en-US" sz="1600" dirty="0"/>
              <a:t>Adversarial attacks</a:t>
            </a:r>
          </a:p>
        </p:txBody>
      </p:sp>
      <p:sp>
        <p:nvSpPr>
          <p:cNvPr id="4" name="Slide Number Placeholder 3"/>
          <p:cNvSpPr>
            <a:spLocks noGrp="1"/>
          </p:cNvSpPr>
          <p:nvPr>
            <p:ph type="sldNum" sz="quarter" idx="11"/>
          </p:nvPr>
        </p:nvSpPr>
        <p:spPr/>
        <p:txBody>
          <a:bodyPr/>
          <a:lstStyle/>
          <a:p>
            <a:fld id="{29A689D0-E50B-4CD7-A841-BB57AB8188C4}" type="slidenum">
              <a:rPr lang="en-NZ" smtClean="0"/>
              <a:pPr/>
              <a:t>2</a:t>
            </a:fld>
            <a:endParaRPr lang="en-NZ" dirty="0"/>
          </a:p>
        </p:txBody>
      </p:sp>
    </p:spTree>
    <p:extLst>
      <p:ext uri="{BB962C8B-B14F-4D97-AF65-F5344CB8AC3E}">
        <p14:creationId xmlns:p14="http://schemas.microsoft.com/office/powerpoint/2010/main" val="11216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de 3" descr="Et bilde som inneholder clip art, tegning, illustrasjon, sketch&#10;&#10;Automatisk generert beskrivelse">
            <a:extLst>
              <a:ext uri="{FF2B5EF4-FFF2-40B4-BE49-F238E27FC236}">
                <a16:creationId xmlns:a16="http://schemas.microsoft.com/office/drawing/2014/main" id="{5EB3FF7E-5807-3DE3-E7EE-485874971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3380" y="1504159"/>
            <a:ext cx="4171950" cy="2503170"/>
          </a:xfrm>
          <a:prstGeom prst="rect">
            <a:avLst/>
          </a:prstGeom>
        </p:spPr>
      </p:pic>
      <p:sp>
        <p:nvSpPr>
          <p:cNvPr id="2" name="Tittel 1">
            <a:extLst>
              <a:ext uri="{FF2B5EF4-FFF2-40B4-BE49-F238E27FC236}">
                <a16:creationId xmlns:a16="http://schemas.microsoft.com/office/drawing/2014/main" id="{D933040E-92BF-4F09-BE9B-23ED1DF1BF52}"/>
              </a:ext>
            </a:extLst>
          </p:cNvPr>
          <p:cNvSpPr>
            <a:spLocks noGrp="1"/>
          </p:cNvSpPr>
          <p:nvPr>
            <p:ph type="title"/>
          </p:nvPr>
        </p:nvSpPr>
        <p:spPr/>
        <p:txBody>
          <a:bodyPr/>
          <a:lstStyle/>
          <a:p>
            <a:r>
              <a:rPr lang="nb-NO" dirty="0" err="1"/>
              <a:t>Some</a:t>
            </a:r>
            <a:r>
              <a:rPr lang="nb-NO" dirty="0"/>
              <a:t> </a:t>
            </a:r>
            <a:r>
              <a:rPr lang="nb-NO" dirty="0" err="1"/>
              <a:t>definitions</a:t>
            </a:r>
            <a:endParaRPr lang="en-150" dirty="0"/>
          </a:p>
        </p:txBody>
      </p:sp>
      <p:sp>
        <p:nvSpPr>
          <p:cNvPr id="3" name="Plassholder for innhold 2">
            <a:extLst>
              <a:ext uri="{FF2B5EF4-FFF2-40B4-BE49-F238E27FC236}">
                <a16:creationId xmlns:a16="http://schemas.microsoft.com/office/drawing/2014/main" id="{617E2112-BBDF-4711-D0CC-7589651EDFF4}"/>
              </a:ext>
            </a:extLst>
          </p:cNvPr>
          <p:cNvSpPr>
            <a:spLocks noGrp="1"/>
          </p:cNvSpPr>
          <p:nvPr>
            <p:ph idx="1"/>
          </p:nvPr>
        </p:nvSpPr>
        <p:spPr>
          <a:xfrm>
            <a:off x="293570" y="1137420"/>
            <a:ext cx="5276463" cy="3334535"/>
          </a:xfrm>
        </p:spPr>
        <p:txBody>
          <a:bodyPr>
            <a:normAutofit/>
          </a:bodyPr>
          <a:lstStyle/>
          <a:p>
            <a:pPr marL="0" indent="0" algn="just">
              <a:buNone/>
            </a:pPr>
            <a:r>
              <a:rPr lang="nb-NO" sz="1800" dirty="0"/>
              <a:t>The</a:t>
            </a:r>
            <a:r>
              <a:rPr lang="nb-NO" sz="1800" b="1" dirty="0"/>
              <a:t> </a:t>
            </a:r>
            <a:r>
              <a:rPr lang="nb-NO" sz="1800" b="1" dirty="0" err="1"/>
              <a:t>interpretability</a:t>
            </a:r>
            <a:r>
              <a:rPr lang="nb-NO" sz="1800" dirty="0"/>
              <a:t> </a:t>
            </a:r>
            <a:r>
              <a:rPr lang="nb-NO" sz="1800" dirty="0" err="1"/>
              <a:t>of</a:t>
            </a:r>
            <a:r>
              <a:rPr lang="nb-NO" sz="1800" dirty="0"/>
              <a:t> a </a:t>
            </a:r>
            <a:r>
              <a:rPr lang="nb-NO" sz="1800" dirty="0" err="1"/>
              <a:t>model</a:t>
            </a:r>
            <a:r>
              <a:rPr lang="nb-NO" sz="1800" dirty="0"/>
              <a:t> </a:t>
            </a:r>
            <a:r>
              <a:rPr lang="en-US" sz="1800" dirty="0"/>
              <a:t>refers to the extent to which a human can understand the cause of a decision made by it. Interpretability is a property of the model that does not necessarily require additional tools or methods to explain it.</a:t>
            </a:r>
            <a:endParaRPr lang="nb-NO" sz="1800" dirty="0"/>
          </a:p>
          <a:p>
            <a:pPr marL="0" indent="0" algn="just">
              <a:buNone/>
            </a:pPr>
            <a:endParaRPr lang="nb-NO" sz="1800" dirty="0"/>
          </a:p>
          <a:p>
            <a:pPr marL="0" indent="0" algn="just">
              <a:buNone/>
            </a:pPr>
            <a:r>
              <a:rPr lang="en-US" sz="1800" b="1" dirty="0"/>
              <a:t>Explainability</a:t>
            </a:r>
            <a:r>
              <a:rPr lang="en-US" sz="1800" dirty="0"/>
              <a:t> refers to the process of providing understandable explanations for the decisions made by a model, with the aid of post-hoc techniques if necessary.</a:t>
            </a:r>
            <a:endParaRPr lang="nb-NO" sz="1800" dirty="0"/>
          </a:p>
        </p:txBody>
      </p:sp>
    </p:spTree>
    <p:extLst>
      <p:ext uri="{BB962C8B-B14F-4D97-AF65-F5344CB8AC3E}">
        <p14:creationId xmlns:p14="http://schemas.microsoft.com/office/powerpoint/2010/main" val="929143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933040E-92BF-4F09-BE9B-23ED1DF1BF52}"/>
              </a:ext>
            </a:extLst>
          </p:cNvPr>
          <p:cNvSpPr>
            <a:spLocks noGrp="1"/>
          </p:cNvSpPr>
          <p:nvPr>
            <p:ph type="title"/>
          </p:nvPr>
        </p:nvSpPr>
        <p:spPr>
          <a:xfrm>
            <a:off x="293570" y="205979"/>
            <a:ext cx="8532795" cy="1077218"/>
          </a:xfrm>
        </p:spPr>
        <p:txBody>
          <a:bodyPr/>
          <a:lstStyle/>
          <a:p>
            <a:r>
              <a:rPr lang="nb-NO" sz="3200" dirty="0" err="1"/>
              <a:t>Why</a:t>
            </a:r>
            <a:r>
              <a:rPr lang="nb-NO" sz="3200" dirty="0"/>
              <a:t> do </a:t>
            </a:r>
            <a:r>
              <a:rPr lang="nb-NO" sz="3200" dirty="0" err="1"/>
              <a:t>we</a:t>
            </a:r>
            <a:r>
              <a:rPr lang="nb-NO" sz="3200" dirty="0"/>
              <a:t> </a:t>
            </a:r>
            <a:r>
              <a:rPr lang="nb-NO" sz="3200" dirty="0" err="1"/>
              <a:t>need</a:t>
            </a:r>
            <a:r>
              <a:rPr lang="nb-NO" sz="3200" dirty="0"/>
              <a:t> </a:t>
            </a:r>
            <a:r>
              <a:rPr lang="nb-NO" sz="3200" dirty="0" err="1"/>
              <a:t>interpretability</a:t>
            </a:r>
            <a:r>
              <a:rPr lang="nb-NO" sz="3200" dirty="0"/>
              <a:t> and </a:t>
            </a:r>
            <a:r>
              <a:rPr lang="nb-NO" sz="3200" dirty="0" err="1"/>
              <a:t>explainability</a:t>
            </a:r>
            <a:r>
              <a:rPr lang="nb-NO" sz="3200" dirty="0"/>
              <a:t>?</a:t>
            </a:r>
            <a:endParaRPr lang="en-150" sz="3200" dirty="0"/>
          </a:p>
        </p:txBody>
      </p:sp>
      <p:sp>
        <p:nvSpPr>
          <p:cNvPr id="3" name="Plassholder for innhold 2">
            <a:extLst>
              <a:ext uri="{FF2B5EF4-FFF2-40B4-BE49-F238E27FC236}">
                <a16:creationId xmlns:a16="http://schemas.microsoft.com/office/drawing/2014/main" id="{617E2112-BBDF-4711-D0CC-7589651EDFF4}"/>
              </a:ext>
            </a:extLst>
          </p:cNvPr>
          <p:cNvSpPr>
            <a:spLocks noGrp="1"/>
          </p:cNvSpPr>
          <p:nvPr>
            <p:ph idx="1"/>
          </p:nvPr>
        </p:nvSpPr>
        <p:spPr>
          <a:xfrm>
            <a:off x="293571" y="1294349"/>
            <a:ext cx="8532794" cy="1753057"/>
          </a:xfrm>
        </p:spPr>
        <p:txBody>
          <a:bodyPr>
            <a:normAutofit fontScale="92500" lnSpcReduction="20000"/>
          </a:bodyPr>
          <a:lstStyle/>
          <a:p>
            <a:pPr algn="just"/>
            <a:r>
              <a:rPr lang="nb-NO" sz="1200" dirty="0"/>
              <a:t>AI </a:t>
            </a:r>
            <a:r>
              <a:rPr lang="nb-NO" sz="1200" dirty="0" err="1"/>
              <a:t>models</a:t>
            </a:r>
            <a:r>
              <a:rPr lang="nb-NO" sz="1200" dirty="0"/>
              <a:t> </a:t>
            </a:r>
            <a:r>
              <a:rPr lang="nb-NO" sz="1200" dirty="0" err="1"/>
              <a:t>can</a:t>
            </a:r>
            <a:r>
              <a:rPr lang="nb-NO" sz="1200" dirty="0"/>
              <a:t> be </a:t>
            </a:r>
            <a:r>
              <a:rPr lang="nb-NO" sz="1200" dirty="0" err="1"/>
              <a:t>opaque</a:t>
            </a:r>
            <a:r>
              <a:rPr lang="nb-NO" sz="1200" dirty="0"/>
              <a:t> (</a:t>
            </a:r>
            <a:r>
              <a:rPr lang="nb-NO" sz="1200" dirty="0" err="1"/>
              <a:t>the</a:t>
            </a:r>
            <a:r>
              <a:rPr lang="nb-NO" sz="1200" dirty="0"/>
              <a:t> «black-</a:t>
            </a:r>
            <a:r>
              <a:rPr lang="nb-NO" sz="1200" dirty="0" err="1"/>
              <a:t>box</a:t>
            </a:r>
            <a:r>
              <a:rPr lang="nb-NO" sz="1200" dirty="0"/>
              <a:t>» </a:t>
            </a:r>
            <a:r>
              <a:rPr lang="nb-NO" sz="1200" dirty="0" err="1"/>
              <a:t>effect</a:t>
            </a:r>
            <a:r>
              <a:rPr lang="nb-NO" sz="1200" dirty="0"/>
              <a:t>), </a:t>
            </a:r>
            <a:r>
              <a:rPr lang="nb-NO" sz="1200" dirty="0" err="1"/>
              <a:t>with</a:t>
            </a:r>
            <a:r>
              <a:rPr lang="nb-NO" sz="1200" dirty="0"/>
              <a:t> </a:t>
            </a:r>
            <a:r>
              <a:rPr lang="nb-NO" sz="1200" dirty="0" err="1"/>
              <a:t>unproven</a:t>
            </a:r>
            <a:r>
              <a:rPr lang="nb-NO" sz="1200" dirty="0"/>
              <a:t> </a:t>
            </a:r>
            <a:r>
              <a:rPr lang="nb-NO" sz="1200" dirty="0" err="1"/>
              <a:t>value</a:t>
            </a:r>
            <a:r>
              <a:rPr lang="nb-NO" sz="1200" dirty="0"/>
              <a:t> to </a:t>
            </a:r>
            <a:r>
              <a:rPr lang="nb-NO" sz="1200" dirty="0" err="1"/>
              <a:t>the</a:t>
            </a:r>
            <a:r>
              <a:rPr lang="nb-NO" sz="1200" dirty="0"/>
              <a:t> end-</a:t>
            </a:r>
            <a:r>
              <a:rPr lang="nb-NO" sz="1200" dirty="0" err="1"/>
              <a:t>users</a:t>
            </a:r>
            <a:r>
              <a:rPr lang="nb-NO" sz="1200" dirty="0"/>
              <a:t>. This poses problems </a:t>
            </a:r>
            <a:r>
              <a:rPr lang="nb-NO" sz="1200" dirty="0" err="1"/>
              <a:t>of</a:t>
            </a:r>
            <a:r>
              <a:rPr lang="nb-NO" sz="1200" dirty="0"/>
              <a:t> trust, </a:t>
            </a:r>
            <a:r>
              <a:rPr lang="nb-NO" sz="1200" dirty="0" err="1"/>
              <a:t>confidence</a:t>
            </a:r>
            <a:r>
              <a:rPr lang="nb-NO" sz="1200" dirty="0"/>
              <a:t> and </a:t>
            </a:r>
            <a:r>
              <a:rPr lang="nb-NO" sz="1200" dirty="0" err="1"/>
              <a:t>reliability</a:t>
            </a:r>
            <a:r>
              <a:rPr lang="nb-NO" sz="1200" dirty="0"/>
              <a:t>.</a:t>
            </a:r>
          </a:p>
          <a:p>
            <a:pPr algn="just"/>
            <a:r>
              <a:rPr lang="nb-NO" sz="1200" dirty="0" err="1"/>
              <a:t>Humans</a:t>
            </a:r>
            <a:r>
              <a:rPr lang="nb-NO" sz="1200" dirty="0"/>
              <a:t> </a:t>
            </a:r>
            <a:r>
              <a:rPr lang="nb-NO" sz="1200" dirty="0" err="1"/>
              <a:t>are</a:t>
            </a:r>
            <a:r>
              <a:rPr lang="nb-NO" sz="1200" dirty="0"/>
              <a:t> </a:t>
            </a:r>
            <a:r>
              <a:rPr lang="nb-NO" sz="1200" b="1" dirty="0" err="1"/>
              <a:t>curious</a:t>
            </a:r>
            <a:r>
              <a:rPr lang="nb-NO" sz="1200" dirty="0"/>
              <a:t>! </a:t>
            </a:r>
            <a:r>
              <a:rPr lang="nb-NO" sz="1200" dirty="0" err="1"/>
              <a:t>Especially</a:t>
            </a:r>
            <a:r>
              <a:rPr lang="nb-NO" sz="1200" dirty="0"/>
              <a:t> </a:t>
            </a:r>
            <a:r>
              <a:rPr lang="nb-NO" sz="1200" dirty="0" err="1"/>
              <a:t>if</a:t>
            </a:r>
            <a:r>
              <a:rPr lang="nb-NO" sz="1200" dirty="0"/>
              <a:t> a </a:t>
            </a:r>
            <a:r>
              <a:rPr lang="nb-NO" sz="1200" dirty="0" err="1"/>
              <a:t>prediction</a:t>
            </a:r>
            <a:r>
              <a:rPr lang="nb-NO" sz="1200" dirty="0"/>
              <a:t> </a:t>
            </a:r>
            <a:r>
              <a:rPr lang="nb-NO" sz="1200" dirty="0" err="1"/>
              <a:t>contradicts</a:t>
            </a:r>
            <a:r>
              <a:rPr lang="nb-NO" sz="1200" dirty="0"/>
              <a:t> </a:t>
            </a:r>
            <a:r>
              <a:rPr lang="nb-NO" sz="1200" dirty="0" err="1"/>
              <a:t>our</a:t>
            </a:r>
            <a:r>
              <a:rPr lang="nb-NO" sz="1200" dirty="0"/>
              <a:t> «mental </a:t>
            </a:r>
            <a:r>
              <a:rPr lang="nb-NO" sz="1200" dirty="0" err="1"/>
              <a:t>model</a:t>
            </a:r>
            <a:r>
              <a:rPr lang="nb-NO" sz="1200" dirty="0"/>
              <a:t>».</a:t>
            </a:r>
          </a:p>
          <a:p>
            <a:pPr algn="just"/>
            <a:r>
              <a:rPr lang="nb-NO" sz="1200" dirty="0" err="1"/>
              <a:t>Explanations</a:t>
            </a:r>
            <a:r>
              <a:rPr lang="nb-NO" sz="1200" dirty="0"/>
              <a:t> </a:t>
            </a:r>
            <a:r>
              <a:rPr lang="nb-NO" sz="1200" dirty="0" err="1"/>
              <a:t>can</a:t>
            </a:r>
            <a:r>
              <a:rPr lang="nb-NO" sz="1200" dirty="0"/>
              <a:t> foster </a:t>
            </a:r>
            <a:r>
              <a:rPr lang="nb-NO" sz="1200" b="1" dirty="0"/>
              <a:t>trust</a:t>
            </a:r>
            <a:r>
              <a:rPr lang="nb-NO" sz="1200" dirty="0"/>
              <a:t> and </a:t>
            </a:r>
            <a:r>
              <a:rPr lang="nb-NO" sz="1200" b="1" dirty="0" err="1"/>
              <a:t>acceptance</a:t>
            </a:r>
            <a:r>
              <a:rPr lang="nb-NO" sz="1200" dirty="0"/>
              <a:t>.</a:t>
            </a:r>
          </a:p>
          <a:p>
            <a:pPr algn="just"/>
            <a:r>
              <a:rPr lang="nb-NO" sz="1200" b="1" dirty="0"/>
              <a:t>If a </a:t>
            </a:r>
            <a:r>
              <a:rPr lang="nb-NO" sz="1200" b="1" dirty="0" err="1"/>
              <a:t>model</a:t>
            </a:r>
            <a:r>
              <a:rPr lang="nb-NO" sz="1200" b="1" dirty="0"/>
              <a:t> </a:t>
            </a:r>
            <a:r>
              <a:rPr lang="nb-NO" sz="1200" b="1" dirty="0" err="1"/>
              <a:t>fails</a:t>
            </a:r>
            <a:r>
              <a:rPr lang="nb-NO" sz="1200" dirty="0"/>
              <a:t>, </a:t>
            </a:r>
            <a:r>
              <a:rPr lang="nb-NO" sz="1200" dirty="0" err="1"/>
              <a:t>gaining</a:t>
            </a:r>
            <a:r>
              <a:rPr lang="nb-NO" sz="1200" dirty="0"/>
              <a:t> </a:t>
            </a:r>
            <a:r>
              <a:rPr lang="nb-NO" sz="1200" dirty="0" err="1"/>
              <a:t>insight</a:t>
            </a:r>
            <a:r>
              <a:rPr lang="nb-NO" sz="1200" dirty="0"/>
              <a:t> as to </a:t>
            </a:r>
            <a:r>
              <a:rPr lang="nb-NO" sz="1200" dirty="0" err="1"/>
              <a:t>why</a:t>
            </a:r>
            <a:r>
              <a:rPr lang="nb-NO" sz="1200" dirty="0"/>
              <a:t> is </a:t>
            </a:r>
            <a:r>
              <a:rPr lang="nb-NO" sz="1200" dirty="0" err="1"/>
              <a:t>critical</a:t>
            </a:r>
            <a:r>
              <a:rPr lang="nb-NO" sz="1200" dirty="0"/>
              <a:t> and </a:t>
            </a:r>
            <a:r>
              <a:rPr lang="nb-NO" sz="1200" dirty="0" err="1"/>
              <a:t>may</a:t>
            </a:r>
            <a:r>
              <a:rPr lang="nb-NO" sz="1200" dirty="0"/>
              <a:t> </a:t>
            </a:r>
            <a:r>
              <a:rPr lang="nb-NO" sz="1200" dirty="0" err="1"/>
              <a:t>help</a:t>
            </a:r>
            <a:r>
              <a:rPr lang="nb-NO" sz="1200" dirty="0"/>
              <a:t> </a:t>
            </a:r>
            <a:r>
              <a:rPr lang="nb-NO" sz="1200" dirty="0" err="1"/>
              <a:t>adjusting</a:t>
            </a:r>
            <a:r>
              <a:rPr lang="nb-NO" sz="1200" dirty="0"/>
              <a:t> </a:t>
            </a:r>
            <a:r>
              <a:rPr lang="nb-NO" sz="1200" dirty="0" err="1"/>
              <a:t>the</a:t>
            </a:r>
            <a:r>
              <a:rPr lang="nb-NO" sz="1200" dirty="0"/>
              <a:t> </a:t>
            </a:r>
            <a:r>
              <a:rPr lang="nb-NO" sz="1200" dirty="0" err="1"/>
              <a:t>model</a:t>
            </a:r>
            <a:r>
              <a:rPr lang="nb-NO" sz="1200" dirty="0"/>
              <a:t> design or </a:t>
            </a:r>
            <a:r>
              <a:rPr lang="nb-NO" sz="1200" dirty="0" err="1"/>
              <a:t>the</a:t>
            </a:r>
            <a:r>
              <a:rPr lang="nb-NO" sz="1200" dirty="0"/>
              <a:t> training </a:t>
            </a:r>
            <a:r>
              <a:rPr lang="nb-NO" sz="1200" dirty="0" err="1"/>
              <a:t>strategy</a:t>
            </a:r>
            <a:r>
              <a:rPr lang="nb-NO" sz="1200" dirty="0"/>
              <a:t>. This is </a:t>
            </a:r>
            <a:r>
              <a:rPr lang="nb-NO" sz="1200" dirty="0" err="1"/>
              <a:t>particularly</a:t>
            </a:r>
            <a:r>
              <a:rPr lang="nb-NO" sz="1200" dirty="0"/>
              <a:t> </a:t>
            </a:r>
            <a:r>
              <a:rPr lang="nb-NO" sz="1200" dirty="0" err="1"/>
              <a:t>important</a:t>
            </a:r>
            <a:r>
              <a:rPr lang="nb-NO" sz="1200" dirty="0"/>
              <a:t> in </a:t>
            </a:r>
            <a:r>
              <a:rPr lang="nb-NO" sz="1200" dirty="0" err="1"/>
              <a:t>safety-critical</a:t>
            </a:r>
            <a:r>
              <a:rPr lang="nb-NO" sz="1200" dirty="0"/>
              <a:t> </a:t>
            </a:r>
            <a:r>
              <a:rPr lang="nb-NO" sz="1200" dirty="0" err="1"/>
              <a:t>applications</a:t>
            </a:r>
            <a:r>
              <a:rPr lang="nb-NO" sz="1200" dirty="0"/>
              <a:t> (</a:t>
            </a:r>
            <a:r>
              <a:rPr lang="nb-NO" sz="1200" dirty="0" err="1"/>
              <a:t>medical</a:t>
            </a:r>
            <a:r>
              <a:rPr lang="nb-NO" sz="1200" dirty="0"/>
              <a:t>, </a:t>
            </a:r>
            <a:r>
              <a:rPr lang="nb-NO" sz="1200" dirty="0" err="1"/>
              <a:t>financial</a:t>
            </a:r>
            <a:r>
              <a:rPr lang="nb-NO" sz="1200" dirty="0"/>
              <a:t>,…) </a:t>
            </a:r>
            <a:r>
              <a:rPr lang="nb-NO" sz="1200" dirty="0" err="1"/>
              <a:t>where</a:t>
            </a:r>
            <a:r>
              <a:rPr lang="nb-NO" sz="1200" dirty="0"/>
              <a:t> </a:t>
            </a:r>
            <a:r>
              <a:rPr lang="nb-NO" sz="1200" dirty="0" err="1"/>
              <a:t>one</a:t>
            </a:r>
            <a:r>
              <a:rPr lang="nb-NO" sz="1200" dirty="0"/>
              <a:t> must be </a:t>
            </a:r>
            <a:r>
              <a:rPr lang="nb-NO" sz="1200" dirty="0" err="1"/>
              <a:t>able</a:t>
            </a:r>
            <a:r>
              <a:rPr lang="nb-NO" sz="1200" dirty="0"/>
              <a:t> to </a:t>
            </a:r>
            <a:r>
              <a:rPr lang="nb-NO" sz="1200" b="1" dirty="0" err="1"/>
              <a:t>audit</a:t>
            </a:r>
            <a:r>
              <a:rPr lang="nb-NO" sz="1200" dirty="0"/>
              <a:t> and </a:t>
            </a:r>
            <a:r>
              <a:rPr lang="nb-NO" sz="1200" b="1" dirty="0" err="1"/>
              <a:t>debug</a:t>
            </a:r>
            <a:r>
              <a:rPr lang="nb-NO" sz="1200" dirty="0"/>
              <a:t>.</a:t>
            </a:r>
          </a:p>
          <a:p>
            <a:pPr algn="just"/>
            <a:r>
              <a:rPr lang="en-US" sz="1200" dirty="0"/>
              <a:t>AI model results are </a:t>
            </a:r>
            <a:r>
              <a:rPr lang="en-US" sz="1200" b="1" dirty="0"/>
              <a:t>not definitive</a:t>
            </a:r>
            <a:r>
              <a:rPr lang="en-US" sz="1200" dirty="0"/>
              <a:t>. Treating them as such can be risky, especially if they are being applied to new cases or contexts (</a:t>
            </a:r>
            <a:r>
              <a:rPr lang="en-US" sz="1200" b="1" dirty="0"/>
              <a:t>transferability</a:t>
            </a:r>
            <a:r>
              <a:rPr lang="en-US" sz="1200" dirty="0"/>
              <a:t>).</a:t>
            </a:r>
          </a:p>
          <a:p>
            <a:pPr algn="just"/>
            <a:r>
              <a:rPr lang="en-US" sz="1200" dirty="0"/>
              <a:t>Causality analysis: explainability can shed light on which variables contribute the most to the model output.</a:t>
            </a:r>
          </a:p>
          <a:p>
            <a:pPr algn="just"/>
            <a:r>
              <a:rPr lang="en-US" sz="1200" dirty="0"/>
              <a:t>Fairness, privacy.</a:t>
            </a:r>
            <a:endParaRPr lang="nb-NO" sz="1200" dirty="0"/>
          </a:p>
        </p:txBody>
      </p:sp>
      <p:pic>
        <p:nvPicPr>
          <p:cNvPr id="10" name="Bilde 9" descr="Et bilde som inneholder røntgenfilm, medisinsk bildebehandling, radiologi, radiografi&#10;&#10;Automatisk generert beskrivelse">
            <a:extLst>
              <a:ext uri="{FF2B5EF4-FFF2-40B4-BE49-F238E27FC236}">
                <a16:creationId xmlns:a16="http://schemas.microsoft.com/office/drawing/2014/main" id="{CD6BE4BF-17E7-6136-834F-CFC9D6356814}"/>
              </a:ext>
            </a:extLst>
          </p:cNvPr>
          <p:cNvPicPr>
            <a:picLocks noChangeAspect="1"/>
          </p:cNvPicPr>
          <p:nvPr/>
        </p:nvPicPr>
        <p:blipFill>
          <a:blip r:embed="rId2"/>
          <a:stretch>
            <a:fillRect/>
          </a:stretch>
        </p:blipFill>
        <p:spPr>
          <a:xfrm>
            <a:off x="1279602" y="3085658"/>
            <a:ext cx="4421459" cy="1468361"/>
          </a:xfrm>
          <a:prstGeom prst="rect">
            <a:avLst/>
          </a:prstGeom>
        </p:spPr>
      </p:pic>
      <p:sp>
        <p:nvSpPr>
          <p:cNvPr id="13" name="TekstSylinder 12">
            <a:extLst>
              <a:ext uri="{FF2B5EF4-FFF2-40B4-BE49-F238E27FC236}">
                <a16:creationId xmlns:a16="http://schemas.microsoft.com/office/drawing/2014/main" id="{E95DE403-1916-6FA9-186F-C88705BC249D}"/>
              </a:ext>
            </a:extLst>
          </p:cNvPr>
          <p:cNvSpPr txBox="1"/>
          <p:nvPr/>
        </p:nvSpPr>
        <p:spPr>
          <a:xfrm>
            <a:off x="5757553" y="3615300"/>
            <a:ext cx="2605862" cy="938719"/>
          </a:xfrm>
          <a:prstGeom prst="rect">
            <a:avLst/>
          </a:prstGeom>
          <a:noFill/>
        </p:spPr>
        <p:txBody>
          <a:bodyPr wrap="square" rtlCol="0">
            <a:spAutoFit/>
          </a:bodyPr>
          <a:lstStyle/>
          <a:p>
            <a:r>
              <a:rPr lang="nb-NO" sz="1100" dirty="0" err="1"/>
              <a:t>Example</a:t>
            </a:r>
            <a:r>
              <a:rPr lang="nb-NO" sz="1100" dirty="0"/>
              <a:t> </a:t>
            </a:r>
            <a:r>
              <a:rPr lang="nb-NO" sz="1100" dirty="0" err="1"/>
              <a:t>of</a:t>
            </a:r>
            <a:r>
              <a:rPr lang="nb-NO" sz="1100" dirty="0"/>
              <a:t> </a:t>
            </a:r>
            <a:r>
              <a:rPr lang="nb-NO" sz="1100" dirty="0" err="1"/>
              <a:t>saliency-based</a:t>
            </a:r>
            <a:r>
              <a:rPr lang="nb-NO" sz="1100" dirty="0"/>
              <a:t> </a:t>
            </a:r>
            <a:r>
              <a:rPr lang="nb-NO" sz="1100" dirty="0" err="1"/>
              <a:t>explanations</a:t>
            </a:r>
            <a:r>
              <a:rPr lang="nb-NO" sz="1100" dirty="0"/>
              <a:t> for COVID </a:t>
            </a:r>
            <a:r>
              <a:rPr lang="nb-NO" sz="1100" dirty="0" err="1"/>
              <a:t>detection</a:t>
            </a:r>
            <a:r>
              <a:rPr lang="nb-NO" sz="1100" dirty="0"/>
              <a:t> </a:t>
            </a:r>
            <a:r>
              <a:rPr lang="nb-NO" sz="1100" dirty="0" err="1"/>
              <a:t>models</a:t>
            </a:r>
            <a:r>
              <a:rPr lang="nb-NO" sz="1100" dirty="0"/>
              <a:t>. Model A </a:t>
            </a:r>
            <a:r>
              <a:rPr lang="nb-NO" sz="1100" dirty="0" err="1"/>
              <a:t>provides</a:t>
            </a:r>
            <a:r>
              <a:rPr lang="nb-NO" sz="1100" dirty="0"/>
              <a:t> a </a:t>
            </a:r>
            <a:r>
              <a:rPr lang="nb-NO" sz="1100" dirty="0" err="1"/>
              <a:t>higher</a:t>
            </a:r>
            <a:r>
              <a:rPr lang="nb-NO" sz="1100" dirty="0"/>
              <a:t> </a:t>
            </a:r>
            <a:r>
              <a:rPr lang="nb-NO" sz="1100" dirty="0" err="1"/>
              <a:t>accuracy</a:t>
            </a:r>
            <a:r>
              <a:rPr lang="nb-NO" sz="1100" dirty="0"/>
              <a:t> </a:t>
            </a:r>
            <a:r>
              <a:rPr lang="nb-NO" sz="1100" dirty="0" err="1"/>
              <a:t>than</a:t>
            </a:r>
            <a:r>
              <a:rPr lang="nb-NO" sz="1100" dirty="0"/>
              <a:t> </a:t>
            </a:r>
            <a:r>
              <a:rPr lang="nb-NO" sz="1100" dirty="0" err="1"/>
              <a:t>model</a:t>
            </a:r>
            <a:r>
              <a:rPr lang="nb-NO" sz="1100" dirty="0"/>
              <a:t> B, </a:t>
            </a:r>
            <a:r>
              <a:rPr lang="nb-NO" sz="1100" dirty="0" err="1"/>
              <a:t>but</a:t>
            </a:r>
            <a:r>
              <a:rPr lang="nb-NO" sz="1100" dirty="0"/>
              <a:t> it </a:t>
            </a:r>
            <a:r>
              <a:rPr lang="nb-NO" sz="1100" dirty="0" err="1"/>
              <a:t>focusses</a:t>
            </a:r>
            <a:r>
              <a:rPr lang="nb-NO" sz="1100" dirty="0"/>
              <a:t> </a:t>
            </a:r>
            <a:r>
              <a:rPr lang="nb-NO" sz="1100" dirty="0" err="1"/>
              <a:t>on</a:t>
            </a:r>
            <a:r>
              <a:rPr lang="nb-NO" sz="1100" dirty="0"/>
              <a:t> </a:t>
            </a:r>
            <a:r>
              <a:rPr lang="nb-NO" sz="1100" dirty="0" err="1"/>
              <a:t>the</a:t>
            </a:r>
            <a:r>
              <a:rPr lang="nb-NO" sz="1100" dirty="0"/>
              <a:t> </a:t>
            </a:r>
            <a:r>
              <a:rPr lang="nb-NO" sz="1100" dirty="0" err="1"/>
              <a:t>wrong</a:t>
            </a:r>
            <a:r>
              <a:rPr lang="nb-NO" sz="1100" dirty="0"/>
              <a:t> </a:t>
            </a:r>
            <a:r>
              <a:rPr lang="nb-NO" sz="1100" dirty="0" err="1"/>
              <a:t>things</a:t>
            </a:r>
            <a:r>
              <a:rPr lang="nb-NO" sz="1100" dirty="0"/>
              <a:t>!</a:t>
            </a:r>
            <a:endParaRPr lang="en-150" sz="1100" dirty="0"/>
          </a:p>
        </p:txBody>
      </p:sp>
      <p:sp>
        <p:nvSpPr>
          <p:cNvPr id="14" name="TekstSylinder 13">
            <a:extLst>
              <a:ext uri="{FF2B5EF4-FFF2-40B4-BE49-F238E27FC236}">
                <a16:creationId xmlns:a16="http://schemas.microsoft.com/office/drawing/2014/main" id="{896B85E2-6860-4F74-6698-91D65F05225E}"/>
              </a:ext>
            </a:extLst>
          </p:cNvPr>
          <p:cNvSpPr txBox="1"/>
          <p:nvPr/>
        </p:nvSpPr>
        <p:spPr>
          <a:xfrm>
            <a:off x="2925801" y="4554019"/>
            <a:ext cx="1129060" cy="261610"/>
          </a:xfrm>
          <a:prstGeom prst="rect">
            <a:avLst/>
          </a:prstGeom>
          <a:noFill/>
        </p:spPr>
        <p:txBody>
          <a:bodyPr wrap="square" rtlCol="0">
            <a:spAutoFit/>
          </a:bodyPr>
          <a:lstStyle/>
          <a:p>
            <a:pPr algn="ctr"/>
            <a:r>
              <a:rPr lang="nb-NO" sz="1100" dirty="0"/>
              <a:t>Model A</a:t>
            </a:r>
            <a:endParaRPr lang="en-150" sz="1100" dirty="0"/>
          </a:p>
        </p:txBody>
      </p:sp>
      <p:sp>
        <p:nvSpPr>
          <p:cNvPr id="15" name="TekstSylinder 14">
            <a:extLst>
              <a:ext uri="{FF2B5EF4-FFF2-40B4-BE49-F238E27FC236}">
                <a16:creationId xmlns:a16="http://schemas.microsoft.com/office/drawing/2014/main" id="{EA4927F5-AA75-71ED-59D7-E229DD878E16}"/>
              </a:ext>
            </a:extLst>
          </p:cNvPr>
          <p:cNvSpPr txBox="1"/>
          <p:nvPr/>
        </p:nvSpPr>
        <p:spPr>
          <a:xfrm>
            <a:off x="4394045" y="4569968"/>
            <a:ext cx="1129060" cy="261610"/>
          </a:xfrm>
          <a:prstGeom prst="rect">
            <a:avLst/>
          </a:prstGeom>
          <a:noFill/>
        </p:spPr>
        <p:txBody>
          <a:bodyPr wrap="square" rtlCol="0">
            <a:spAutoFit/>
          </a:bodyPr>
          <a:lstStyle/>
          <a:p>
            <a:pPr algn="ctr"/>
            <a:r>
              <a:rPr lang="nb-NO" sz="1100" dirty="0"/>
              <a:t>Model B</a:t>
            </a:r>
            <a:endParaRPr lang="en-150" sz="1100" dirty="0"/>
          </a:p>
        </p:txBody>
      </p:sp>
    </p:spTree>
    <p:extLst>
      <p:ext uri="{BB962C8B-B14F-4D97-AF65-F5344CB8AC3E}">
        <p14:creationId xmlns:p14="http://schemas.microsoft.com/office/powerpoint/2010/main" val="4070767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Stages of AI explainability</a:t>
            </a:r>
          </a:p>
        </p:txBody>
      </p:sp>
      <p:sp>
        <p:nvSpPr>
          <p:cNvPr id="4" name="Slide Number Placeholder 3"/>
          <p:cNvSpPr>
            <a:spLocks noGrp="1"/>
          </p:cNvSpPr>
          <p:nvPr>
            <p:ph type="sldNum" sz="quarter" idx="11"/>
          </p:nvPr>
        </p:nvSpPr>
        <p:spPr/>
        <p:txBody>
          <a:bodyPr/>
          <a:lstStyle/>
          <a:p>
            <a:fld id="{29A689D0-E50B-4CD7-A841-BB57AB8188C4}" type="slidenum">
              <a:rPr lang="en-NZ" smtClean="0"/>
              <a:pPr/>
              <a:t>5</a:t>
            </a:fld>
            <a:endParaRPr lang="en-NZ" dirty="0"/>
          </a:p>
        </p:txBody>
      </p:sp>
      <p:pic>
        <p:nvPicPr>
          <p:cNvPr id="2050" name="Picture 2" descr="Image for post"/>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1937"/>
          <a:stretch/>
        </p:blipFill>
        <p:spPr bwMode="auto">
          <a:xfrm>
            <a:off x="854793" y="1109546"/>
            <a:ext cx="7434413" cy="3596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44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79BCA3D-B855-342E-47A3-8157D29B7A30}"/>
              </a:ext>
            </a:extLst>
          </p:cNvPr>
          <p:cNvSpPr>
            <a:spLocks noGrp="1"/>
          </p:cNvSpPr>
          <p:nvPr>
            <p:ph type="title"/>
          </p:nvPr>
        </p:nvSpPr>
        <p:spPr/>
        <p:txBody>
          <a:bodyPr/>
          <a:lstStyle/>
          <a:p>
            <a:r>
              <a:rPr lang="nb-NO" dirty="0"/>
              <a:t>The «</a:t>
            </a:r>
            <a:r>
              <a:rPr lang="nb-NO" dirty="0" err="1"/>
              <a:t>interpretability</a:t>
            </a:r>
            <a:r>
              <a:rPr lang="nb-NO" dirty="0"/>
              <a:t> </a:t>
            </a:r>
            <a:r>
              <a:rPr lang="nb-NO" dirty="0" err="1"/>
              <a:t>spectrum</a:t>
            </a:r>
            <a:r>
              <a:rPr lang="nb-NO" dirty="0"/>
              <a:t>»</a:t>
            </a:r>
            <a:endParaRPr lang="en-150" dirty="0"/>
          </a:p>
        </p:txBody>
      </p:sp>
      <p:pic>
        <p:nvPicPr>
          <p:cNvPr id="5" name="Bilde 4">
            <a:extLst>
              <a:ext uri="{FF2B5EF4-FFF2-40B4-BE49-F238E27FC236}">
                <a16:creationId xmlns:a16="http://schemas.microsoft.com/office/drawing/2014/main" id="{230BA4F7-DFF9-F9F7-07BE-42D5E0F9CD68}"/>
              </a:ext>
            </a:extLst>
          </p:cNvPr>
          <p:cNvPicPr>
            <a:picLocks noChangeAspect="1"/>
          </p:cNvPicPr>
          <p:nvPr/>
        </p:nvPicPr>
        <p:blipFill>
          <a:blip r:embed="rId2"/>
          <a:stretch>
            <a:fillRect/>
          </a:stretch>
        </p:blipFill>
        <p:spPr>
          <a:xfrm>
            <a:off x="0" y="1250284"/>
            <a:ext cx="9144000" cy="2642932"/>
          </a:xfrm>
          <a:prstGeom prst="rect">
            <a:avLst/>
          </a:prstGeom>
        </p:spPr>
      </p:pic>
    </p:spTree>
    <p:extLst>
      <p:ext uri="{BB962C8B-B14F-4D97-AF65-F5344CB8AC3E}">
        <p14:creationId xmlns:p14="http://schemas.microsoft.com/office/powerpoint/2010/main" val="1967481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933040E-92BF-4F09-BE9B-23ED1DF1BF52}"/>
              </a:ext>
            </a:extLst>
          </p:cNvPr>
          <p:cNvSpPr>
            <a:spLocks noGrp="1"/>
          </p:cNvSpPr>
          <p:nvPr>
            <p:ph type="title"/>
          </p:nvPr>
        </p:nvSpPr>
        <p:spPr>
          <a:xfrm>
            <a:off x="293570" y="205979"/>
            <a:ext cx="8532795" cy="1200329"/>
          </a:xfrm>
        </p:spPr>
        <p:txBody>
          <a:bodyPr/>
          <a:lstStyle/>
          <a:p>
            <a:r>
              <a:rPr lang="nb-NO" dirty="0" err="1"/>
              <a:t>Inherently</a:t>
            </a:r>
            <a:r>
              <a:rPr lang="nb-NO" dirty="0"/>
              <a:t> </a:t>
            </a:r>
            <a:r>
              <a:rPr lang="nb-NO" dirty="0" err="1"/>
              <a:t>interpretable</a:t>
            </a:r>
            <a:r>
              <a:rPr lang="nb-NO" dirty="0"/>
              <a:t> </a:t>
            </a:r>
            <a:r>
              <a:rPr lang="nb-NO" dirty="0" err="1"/>
              <a:t>models</a:t>
            </a:r>
            <a:r>
              <a:rPr lang="nb-NO" dirty="0"/>
              <a:t>:</a:t>
            </a:r>
            <a:br>
              <a:rPr lang="nb-NO" dirty="0"/>
            </a:br>
            <a:r>
              <a:rPr lang="nb-NO" dirty="0"/>
              <a:t>Linear </a:t>
            </a:r>
            <a:r>
              <a:rPr lang="nb-NO" dirty="0" err="1"/>
              <a:t>regression</a:t>
            </a:r>
            <a:endParaRPr lang="en-150" dirty="0"/>
          </a:p>
        </p:txBody>
      </p:sp>
      <p:sp>
        <p:nvSpPr>
          <p:cNvPr id="3" name="Plassholder for innhold 2">
            <a:extLst>
              <a:ext uri="{FF2B5EF4-FFF2-40B4-BE49-F238E27FC236}">
                <a16:creationId xmlns:a16="http://schemas.microsoft.com/office/drawing/2014/main" id="{617E2112-BBDF-4711-D0CC-7589651EDFF4}"/>
              </a:ext>
            </a:extLst>
          </p:cNvPr>
          <p:cNvSpPr>
            <a:spLocks noGrp="1"/>
          </p:cNvSpPr>
          <p:nvPr>
            <p:ph idx="1"/>
          </p:nvPr>
        </p:nvSpPr>
        <p:spPr>
          <a:xfrm>
            <a:off x="293570" y="1561172"/>
            <a:ext cx="8532795" cy="3033452"/>
          </a:xfrm>
        </p:spPr>
        <p:txBody>
          <a:bodyPr/>
          <a:lstStyle/>
          <a:p>
            <a:pPr marL="0" indent="0">
              <a:buNone/>
            </a:pPr>
            <a:r>
              <a:rPr lang="nb-NO" sz="2000" dirty="0" err="1"/>
              <a:t>Consider</a:t>
            </a:r>
            <a:r>
              <a:rPr lang="nb-NO" sz="2000" dirty="0"/>
              <a:t> </a:t>
            </a:r>
            <a:r>
              <a:rPr lang="nb-NO" sz="2000" dirty="0" err="1"/>
              <a:t>this</a:t>
            </a:r>
            <a:r>
              <a:rPr lang="nb-NO" sz="2000" dirty="0"/>
              <a:t> simple </a:t>
            </a:r>
            <a:r>
              <a:rPr lang="nb-NO" sz="2000" dirty="0" err="1"/>
              <a:t>model</a:t>
            </a:r>
            <a:r>
              <a:rPr lang="nb-NO" sz="2000" dirty="0"/>
              <a:t> </a:t>
            </a:r>
            <a:r>
              <a:rPr lang="nb-NO" sz="2000" dirty="0" err="1"/>
              <a:t>that</a:t>
            </a:r>
            <a:r>
              <a:rPr lang="nb-NO" sz="2000" dirty="0"/>
              <a:t> </a:t>
            </a:r>
            <a:r>
              <a:rPr lang="nb-NO" sz="2000" dirty="0" err="1"/>
              <a:t>predicts</a:t>
            </a:r>
            <a:r>
              <a:rPr lang="nb-NO" sz="2000" dirty="0"/>
              <a:t> </a:t>
            </a:r>
            <a:r>
              <a:rPr lang="nb-NO" sz="2000" dirty="0" err="1"/>
              <a:t>the</a:t>
            </a:r>
            <a:r>
              <a:rPr lang="nb-NO" sz="2000" dirty="0"/>
              <a:t> </a:t>
            </a:r>
            <a:r>
              <a:rPr lang="nb-NO" sz="2000" dirty="0" err="1"/>
              <a:t>maximum</a:t>
            </a:r>
            <a:r>
              <a:rPr lang="nb-NO" sz="2000" dirty="0"/>
              <a:t> </a:t>
            </a:r>
            <a:r>
              <a:rPr lang="nb-NO" sz="2000" dirty="0" err="1"/>
              <a:t>loan</a:t>
            </a:r>
            <a:r>
              <a:rPr lang="nb-NO" sz="2000" dirty="0"/>
              <a:t> </a:t>
            </a:r>
            <a:r>
              <a:rPr lang="nb-NO" sz="2000" dirty="0" err="1"/>
              <a:t>that</a:t>
            </a:r>
            <a:r>
              <a:rPr lang="nb-NO" sz="2000" dirty="0"/>
              <a:t> a person </a:t>
            </a:r>
            <a:r>
              <a:rPr lang="nb-NO" sz="2000" dirty="0" err="1"/>
              <a:t>can</a:t>
            </a:r>
            <a:r>
              <a:rPr lang="nb-NO" sz="2000" dirty="0"/>
              <a:t> </a:t>
            </a:r>
            <a:r>
              <a:rPr lang="nb-NO" sz="2000" dirty="0" err="1"/>
              <a:t>obtain</a:t>
            </a:r>
            <a:r>
              <a:rPr lang="nb-NO" sz="2000" dirty="0"/>
              <a:t>, </a:t>
            </a:r>
            <a:r>
              <a:rPr lang="nb-NO" sz="2000" dirty="0" err="1"/>
              <a:t>based</a:t>
            </a:r>
            <a:r>
              <a:rPr lang="nb-NO" sz="2000" dirty="0"/>
              <a:t> </a:t>
            </a:r>
            <a:r>
              <a:rPr lang="nb-NO" sz="2000" dirty="0" err="1"/>
              <a:t>on</a:t>
            </a:r>
            <a:r>
              <a:rPr lang="nb-NO" sz="2000" dirty="0"/>
              <a:t> age and </a:t>
            </a:r>
            <a:r>
              <a:rPr lang="nb-NO" sz="2000" dirty="0" err="1"/>
              <a:t>salary</a:t>
            </a:r>
            <a:r>
              <a:rPr lang="nb-NO" sz="2000" dirty="0"/>
              <a:t>: Y = </a:t>
            </a:r>
            <a:r>
              <a:rPr lang="nb-NO" sz="2000" dirty="0">
                <a:solidFill>
                  <a:srgbClr val="FF0000"/>
                </a:solidFill>
              </a:rPr>
              <a:t>1000</a:t>
            </a:r>
            <a:r>
              <a:rPr lang="nb-NO" sz="2000" dirty="0"/>
              <a:t>*age + </a:t>
            </a:r>
            <a:r>
              <a:rPr lang="nb-NO" sz="2000" dirty="0">
                <a:solidFill>
                  <a:srgbClr val="FF0000"/>
                </a:solidFill>
              </a:rPr>
              <a:t>20</a:t>
            </a:r>
            <a:r>
              <a:rPr lang="nb-NO" sz="2000" dirty="0"/>
              <a:t>*</a:t>
            </a:r>
            <a:r>
              <a:rPr lang="nb-NO" sz="2000" dirty="0" err="1"/>
              <a:t>salary</a:t>
            </a:r>
            <a:r>
              <a:rPr lang="nb-NO" sz="2000" dirty="0"/>
              <a:t> + </a:t>
            </a:r>
            <a:r>
              <a:rPr lang="nb-NO" sz="2000" dirty="0">
                <a:solidFill>
                  <a:srgbClr val="7030A0"/>
                </a:solidFill>
              </a:rPr>
              <a:t>5000</a:t>
            </a:r>
          </a:p>
          <a:p>
            <a:pPr marL="0" indent="0">
              <a:buNone/>
            </a:pPr>
            <a:endParaRPr lang="nb-NO" sz="2000" dirty="0">
              <a:solidFill>
                <a:srgbClr val="7030A0"/>
              </a:solidFill>
            </a:endParaRPr>
          </a:p>
          <a:p>
            <a:pPr marL="0" indent="0">
              <a:buNone/>
            </a:pPr>
            <a:r>
              <a:rPr lang="nb-NO" sz="2000" dirty="0"/>
              <a:t>A 30 </a:t>
            </a:r>
            <a:r>
              <a:rPr lang="nb-NO" sz="2000" dirty="0" err="1"/>
              <a:t>year</a:t>
            </a:r>
            <a:r>
              <a:rPr lang="nb-NO" sz="2000" dirty="0"/>
              <a:t> old </a:t>
            </a:r>
            <a:r>
              <a:rPr lang="nb-NO" sz="2000" dirty="0" err="1"/>
              <a:t>earning</a:t>
            </a:r>
            <a:r>
              <a:rPr lang="nb-NO" sz="2000" dirty="0"/>
              <a:t> 30,000 NOK a </a:t>
            </a:r>
            <a:r>
              <a:rPr lang="nb-NO" sz="2000" dirty="0" err="1"/>
              <a:t>month</a:t>
            </a:r>
            <a:r>
              <a:rPr lang="nb-NO" sz="2000" dirty="0"/>
              <a:t> </a:t>
            </a:r>
            <a:r>
              <a:rPr lang="nb-NO" sz="2000" dirty="0" err="1"/>
              <a:t>can</a:t>
            </a:r>
            <a:r>
              <a:rPr lang="nb-NO" sz="2000" dirty="0"/>
              <a:t> </a:t>
            </a:r>
            <a:r>
              <a:rPr lang="nb-NO" sz="2000" dirty="0" err="1"/>
              <a:t>get</a:t>
            </a:r>
            <a:r>
              <a:rPr lang="nb-NO" sz="2000" dirty="0"/>
              <a:t> a </a:t>
            </a:r>
            <a:r>
              <a:rPr lang="nb-NO" sz="2000" dirty="0" err="1"/>
              <a:t>maximum</a:t>
            </a:r>
            <a:r>
              <a:rPr lang="nb-NO" sz="2000" dirty="0"/>
              <a:t> </a:t>
            </a:r>
            <a:r>
              <a:rPr lang="nb-NO" sz="2000" dirty="0" err="1"/>
              <a:t>loan</a:t>
            </a:r>
            <a:r>
              <a:rPr lang="nb-NO" sz="2000" dirty="0"/>
              <a:t> </a:t>
            </a:r>
            <a:r>
              <a:rPr lang="nb-NO" sz="2000" dirty="0" err="1"/>
              <a:t>of</a:t>
            </a:r>
            <a:endParaRPr lang="nb-NO" sz="2000" dirty="0"/>
          </a:p>
          <a:p>
            <a:pPr marL="0" indent="0">
              <a:buNone/>
            </a:pPr>
            <a:r>
              <a:rPr lang="nb-NO" sz="2000" dirty="0"/>
              <a:t>??</a:t>
            </a:r>
          </a:p>
        </p:txBody>
      </p:sp>
    </p:spTree>
    <p:extLst>
      <p:ext uri="{BB962C8B-B14F-4D97-AF65-F5344CB8AC3E}">
        <p14:creationId xmlns:p14="http://schemas.microsoft.com/office/powerpoint/2010/main" val="26695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933040E-92BF-4F09-BE9B-23ED1DF1BF52}"/>
              </a:ext>
            </a:extLst>
          </p:cNvPr>
          <p:cNvSpPr>
            <a:spLocks noGrp="1"/>
          </p:cNvSpPr>
          <p:nvPr>
            <p:ph type="title"/>
          </p:nvPr>
        </p:nvSpPr>
        <p:spPr>
          <a:xfrm>
            <a:off x="293570" y="205979"/>
            <a:ext cx="8532795" cy="1200329"/>
          </a:xfrm>
        </p:spPr>
        <p:txBody>
          <a:bodyPr/>
          <a:lstStyle/>
          <a:p>
            <a:r>
              <a:rPr lang="nb-NO" dirty="0" err="1"/>
              <a:t>Inherently</a:t>
            </a:r>
            <a:r>
              <a:rPr lang="nb-NO" dirty="0"/>
              <a:t> </a:t>
            </a:r>
            <a:r>
              <a:rPr lang="nb-NO" dirty="0" err="1"/>
              <a:t>interpretable</a:t>
            </a:r>
            <a:r>
              <a:rPr lang="nb-NO" dirty="0"/>
              <a:t> </a:t>
            </a:r>
            <a:r>
              <a:rPr lang="nb-NO" dirty="0" err="1"/>
              <a:t>models</a:t>
            </a:r>
            <a:r>
              <a:rPr lang="nb-NO" dirty="0"/>
              <a:t>:</a:t>
            </a:r>
            <a:br>
              <a:rPr lang="nb-NO" dirty="0"/>
            </a:br>
            <a:r>
              <a:rPr lang="nb-NO" dirty="0"/>
              <a:t>Linear </a:t>
            </a:r>
            <a:r>
              <a:rPr lang="nb-NO" dirty="0" err="1"/>
              <a:t>regression</a:t>
            </a:r>
            <a:endParaRPr lang="en-150" dirty="0"/>
          </a:p>
        </p:txBody>
      </p:sp>
      <p:sp>
        <p:nvSpPr>
          <p:cNvPr id="3" name="Plassholder for innhold 2">
            <a:extLst>
              <a:ext uri="{FF2B5EF4-FFF2-40B4-BE49-F238E27FC236}">
                <a16:creationId xmlns:a16="http://schemas.microsoft.com/office/drawing/2014/main" id="{617E2112-BBDF-4711-D0CC-7589651EDFF4}"/>
              </a:ext>
            </a:extLst>
          </p:cNvPr>
          <p:cNvSpPr>
            <a:spLocks noGrp="1"/>
          </p:cNvSpPr>
          <p:nvPr>
            <p:ph idx="1"/>
          </p:nvPr>
        </p:nvSpPr>
        <p:spPr>
          <a:xfrm>
            <a:off x="293570" y="1561172"/>
            <a:ext cx="8532795" cy="3033452"/>
          </a:xfrm>
        </p:spPr>
        <p:txBody>
          <a:bodyPr/>
          <a:lstStyle/>
          <a:p>
            <a:pPr marL="0" indent="0">
              <a:buNone/>
            </a:pPr>
            <a:r>
              <a:rPr lang="nb-NO" sz="2000" dirty="0" err="1"/>
              <a:t>Consider</a:t>
            </a:r>
            <a:r>
              <a:rPr lang="nb-NO" sz="2000" dirty="0"/>
              <a:t> </a:t>
            </a:r>
            <a:r>
              <a:rPr lang="nb-NO" sz="2000" dirty="0" err="1"/>
              <a:t>this</a:t>
            </a:r>
            <a:r>
              <a:rPr lang="nb-NO" sz="2000" dirty="0"/>
              <a:t> simple </a:t>
            </a:r>
            <a:r>
              <a:rPr lang="nb-NO" sz="2000" dirty="0" err="1"/>
              <a:t>model</a:t>
            </a:r>
            <a:r>
              <a:rPr lang="nb-NO" sz="2000" dirty="0"/>
              <a:t> </a:t>
            </a:r>
            <a:r>
              <a:rPr lang="nb-NO" sz="2000" dirty="0" err="1"/>
              <a:t>that</a:t>
            </a:r>
            <a:r>
              <a:rPr lang="nb-NO" sz="2000" dirty="0"/>
              <a:t> </a:t>
            </a:r>
            <a:r>
              <a:rPr lang="nb-NO" sz="2000" dirty="0" err="1"/>
              <a:t>predicts</a:t>
            </a:r>
            <a:r>
              <a:rPr lang="nb-NO" sz="2000" dirty="0"/>
              <a:t> </a:t>
            </a:r>
            <a:r>
              <a:rPr lang="nb-NO" sz="2000" dirty="0" err="1"/>
              <a:t>the</a:t>
            </a:r>
            <a:r>
              <a:rPr lang="nb-NO" sz="2000" dirty="0"/>
              <a:t> </a:t>
            </a:r>
            <a:r>
              <a:rPr lang="nb-NO" sz="2000" dirty="0" err="1"/>
              <a:t>maximum</a:t>
            </a:r>
            <a:r>
              <a:rPr lang="nb-NO" sz="2000" dirty="0"/>
              <a:t> </a:t>
            </a:r>
            <a:r>
              <a:rPr lang="nb-NO" sz="2000" dirty="0" err="1"/>
              <a:t>loan</a:t>
            </a:r>
            <a:r>
              <a:rPr lang="nb-NO" sz="2000" dirty="0"/>
              <a:t> </a:t>
            </a:r>
            <a:r>
              <a:rPr lang="nb-NO" sz="2000" dirty="0" err="1"/>
              <a:t>that</a:t>
            </a:r>
            <a:r>
              <a:rPr lang="nb-NO" sz="2000" dirty="0"/>
              <a:t> a person </a:t>
            </a:r>
            <a:r>
              <a:rPr lang="nb-NO" sz="2000" dirty="0" err="1"/>
              <a:t>can</a:t>
            </a:r>
            <a:r>
              <a:rPr lang="nb-NO" sz="2000" dirty="0"/>
              <a:t> </a:t>
            </a:r>
            <a:r>
              <a:rPr lang="nb-NO" sz="2000" dirty="0" err="1"/>
              <a:t>obtain</a:t>
            </a:r>
            <a:r>
              <a:rPr lang="nb-NO" sz="2000" dirty="0"/>
              <a:t>, </a:t>
            </a:r>
            <a:r>
              <a:rPr lang="nb-NO" sz="2000" dirty="0" err="1"/>
              <a:t>based</a:t>
            </a:r>
            <a:r>
              <a:rPr lang="nb-NO" sz="2000" dirty="0"/>
              <a:t> </a:t>
            </a:r>
            <a:r>
              <a:rPr lang="nb-NO" sz="2000" dirty="0" err="1"/>
              <a:t>on</a:t>
            </a:r>
            <a:r>
              <a:rPr lang="nb-NO" sz="2000" dirty="0"/>
              <a:t> age and </a:t>
            </a:r>
            <a:r>
              <a:rPr lang="nb-NO" sz="2000" dirty="0" err="1"/>
              <a:t>salary</a:t>
            </a:r>
            <a:r>
              <a:rPr lang="nb-NO" sz="2000" dirty="0"/>
              <a:t>: Y = </a:t>
            </a:r>
            <a:r>
              <a:rPr lang="nb-NO" sz="2000" dirty="0">
                <a:solidFill>
                  <a:srgbClr val="FF0000"/>
                </a:solidFill>
              </a:rPr>
              <a:t>1000</a:t>
            </a:r>
            <a:r>
              <a:rPr lang="nb-NO" sz="2000" dirty="0"/>
              <a:t>*age + </a:t>
            </a:r>
            <a:r>
              <a:rPr lang="nb-NO" sz="2000" dirty="0">
                <a:solidFill>
                  <a:srgbClr val="FF0000"/>
                </a:solidFill>
              </a:rPr>
              <a:t>20</a:t>
            </a:r>
            <a:r>
              <a:rPr lang="nb-NO" sz="2000" dirty="0"/>
              <a:t>*</a:t>
            </a:r>
            <a:r>
              <a:rPr lang="nb-NO" sz="2000" dirty="0" err="1"/>
              <a:t>salary</a:t>
            </a:r>
            <a:r>
              <a:rPr lang="nb-NO" sz="2000" dirty="0"/>
              <a:t> + </a:t>
            </a:r>
            <a:r>
              <a:rPr lang="nb-NO" sz="2000" dirty="0">
                <a:solidFill>
                  <a:srgbClr val="7030A0"/>
                </a:solidFill>
              </a:rPr>
              <a:t>5000</a:t>
            </a:r>
          </a:p>
          <a:p>
            <a:pPr marL="0" indent="0">
              <a:buNone/>
            </a:pPr>
            <a:endParaRPr lang="nb-NO" sz="2000" dirty="0">
              <a:solidFill>
                <a:srgbClr val="7030A0"/>
              </a:solidFill>
            </a:endParaRPr>
          </a:p>
          <a:p>
            <a:pPr marL="0" indent="0">
              <a:buNone/>
            </a:pPr>
            <a:r>
              <a:rPr lang="nb-NO" sz="2000" dirty="0"/>
              <a:t>A 30 </a:t>
            </a:r>
            <a:r>
              <a:rPr lang="nb-NO" sz="2000" dirty="0" err="1"/>
              <a:t>year</a:t>
            </a:r>
            <a:r>
              <a:rPr lang="nb-NO" sz="2000" dirty="0"/>
              <a:t> old </a:t>
            </a:r>
            <a:r>
              <a:rPr lang="nb-NO" sz="2000" dirty="0" err="1"/>
              <a:t>earning</a:t>
            </a:r>
            <a:r>
              <a:rPr lang="nb-NO" sz="2000" dirty="0"/>
              <a:t> 30,000 NOK a </a:t>
            </a:r>
            <a:r>
              <a:rPr lang="nb-NO" sz="2000" dirty="0" err="1"/>
              <a:t>month</a:t>
            </a:r>
            <a:r>
              <a:rPr lang="nb-NO" sz="2000" dirty="0"/>
              <a:t> </a:t>
            </a:r>
            <a:r>
              <a:rPr lang="nb-NO" sz="2000" dirty="0" err="1"/>
              <a:t>can</a:t>
            </a:r>
            <a:r>
              <a:rPr lang="nb-NO" sz="2000" dirty="0"/>
              <a:t> </a:t>
            </a:r>
            <a:r>
              <a:rPr lang="nb-NO" sz="2000" dirty="0" err="1"/>
              <a:t>get</a:t>
            </a:r>
            <a:r>
              <a:rPr lang="nb-NO" sz="2000" dirty="0"/>
              <a:t> a </a:t>
            </a:r>
            <a:r>
              <a:rPr lang="nb-NO" sz="2000" dirty="0" err="1"/>
              <a:t>maximum</a:t>
            </a:r>
            <a:r>
              <a:rPr lang="nb-NO" sz="2000" dirty="0"/>
              <a:t> </a:t>
            </a:r>
            <a:r>
              <a:rPr lang="nb-NO" sz="2000" dirty="0" err="1"/>
              <a:t>loan</a:t>
            </a:r>
            <a:r>
              <a:rPr lang="nb-NO" sz="2000" dirty="0"/>
              <a:t> </a:t>
            </a:r>
            <a:r>
              <a:rPr lang="nb-NO" sz="2000" dirty="0" err="1"/>
              <a:t>of</a:t>
            </a:r>
            <a:r>
              <a:rPr lang="nb-NO" sz="2000" dirty="0"/>
              <a:t> 1000*30+20*30000 +5000 = 635000 NOK</a:t>
            </a:r>
          </a:p>
          <a:p>
            <a:pPr marL="0" indent="0">
              <a:buNone/>
            </a:pPr>
            <a:endParaRPr lang="nb-NO" sz="2000" dirty="0"/>
          </a:p>
          <a:p>
            <a:pPr marL="0" indent="0">
              <a:buNone/>
            </a:pPr>
            <a:r>
              <a:rPr lang="nb-NO" sz="2000" dirty="0"/>
              <a:t>The </a:t>
            </a:r>
            <a:r>
              <a:rPr lang="nb-NO" sz="2000" dirty="0" err="1"/>
              <a:t>model</a:t>
            </a:r>
            <a:r>
              <a:rPr lang="nb-NO" sz="2000" dirty="0"/>
              <a:t> </a:t>
            </a:r>
            <a:r>
              <a:rPr lang="nb-NO" sz="2000" dirty="0" err="1"/>
              <a:t>can</a:t>
            </a:r>
            <a:r>
              <a:rPr lang="nb-NO" sz="2000" dirty="0"/>
              <a:t> be </a:t>
            </a:r>
            <a:r>
              <a:rPr lang="nb-NO" sz="2000" dirty="0" err="1"/>
              <a:t>interpreted</a:t>
            </a:r>
            <a:r>
              <a:rPr lang="nb-NO" sz="2000" dirty="0"/>
              <a:t> via statements </a:t>
            </a:r>
            <a:r>
              <a:rPr lang="nb-NO" sz="2000" dirty="0" err="1"/>
              <a:t>such</a:t>
            </a:r>
            <a:r>
              <a:rPr lang="nb-NO" sz="2000" dirty="0"/>
              <a:t> as «</a:t>
            </a:r>
            <a:r>
              <a:rPr lang="nb-NO" sz="2000" i="1" dirty="0"/>
              <a:t>For </a:t>
            </a:r>
            <a:r>
              <a:rPr lang="nb-NO" sz="2000" i="1" dirty="0" err="1"/>
              <a:t>every</a:t>
            </a:r>
            <a:r>
              <a:rPr lang="nb-NO" sz="2000" i="1" dirty="0"/>
              <a:t> </a:t>
            </a:r>
            <a:r>
              <a:rPr lang="nb-NO" sz="2000" i="1" dirty="0" err="1"/>
              <a:t>additional</a:t>
            </a:r>
            <a:r>
              <a:rPr lang="nb-NO" sz="2000" i="1" dirty="0"/>
              <a:t> </a:t>
            </a:r>
            <a:r>
              <a:rPr lang="nb-NO" sz="2000" i="1" dirty="0" err="1"/>
              <a:t>year</a:t>
            </a:r>
            <a:r>
              <a:rPr lang="nb-NO" sz="2000" i="1" dirty="0"/>
              <a:t>, </a:t>
            </a:r>
            <a:r>
              <a:rPr lang="nb-NO" sz="2000" i="1" dirty="0" err="1"/>
              <a:t>one</a:t>
            </a:r>
            <a:r>
              <a:rPr lang="nb-NO" sz="2000" i="1" dirty="0"/>
              <a:t> </a:t>
            </a:r>
            <a:r>
              <a:rPr lang="nb-NO" sz="2000" i="1" dirty="0" err="1"/>
              <a:t>can</a:t>
            </a:r>
            <a:r>
              <a:rPr lang="nb-NO" sz="2000" i="1" dirty="0"/>
              <a:t> </a:t>
            </a:r>
            <a:r>
              <a:rPr lang="nb-NO" sz="2000" i="1" dirty="0" err="1"/>
              <a:t>get</a:t>
            </a:r>
            <a:r>
              <a:rPr lang="nb-NO" sz="2000" i="1" dirty="0"/>
              <a:t> an </a:t>
            </a:r>
            <a:r>
              <a:rPr lang="nb-NO" sz="2000" i="1" dirty="0" err="1"/>
              <a:t>additional</a:t>
            </a:r>
            <a:r>
              <a:rPr lang="nb-NO" sz="2000" i="1" dirty="0"/>
              <a:t> 1000 NOK</a:t>
            </a:r>
            <a:r>
              <a:rPr lang="nb-NO" sz="2000" dirty="0"/>
              <a:t>».</a:t>
            </a:r>
          </a:p>
        </p:txBody>
      </p:sp>
    </p:spTree>
    <p:extLst>
      <p:ext uri="{BB962C8B-B14F-4D97-AF65-F5344CB8AC3E}">
        <p14:creationId xmlns:p14="http://schemas.microsoft.com/office/powerpoint/2010/main" val="1127902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933040E-92BF-4F09-BE9B-23ED1DF1BF52}"/>
              </a:ext>
            </a:extLst>
          </p:cNvPr>
          <p:cNvSpPr>
            <a:spLocks noGrp="1"/>
          </p:cNvSpPr>
          <p:nvPr>
            <p:ph type="title"/>
          </p:nvPr>
        </p:nvSpPr>
        <p:spPr>
          <a:xfrm>
            <a:off x="293570" y="205979"/>
            <a:ext cx="8532795" cy="1200329"/>
          </a:xfrm>
        </p:spPr>
        <p:txBody>
          <a:bodyPr/>
          <a:lstStyle/>
          <a:p>
            <a:r>
              <a:rPr lang="nb-NO" dirty="0" err="1"/>
              <a:t>Inherently</a:t>
            </a:r>
            <a:r>
              <a:rPr lang="nb-NO" dirty="0"/>
              <a:t> </a:t>
            </a:r>
            <a:r>
              <a:rPr lang="nb-NO" dirty="0" err="1"/>
              <a:t>interpretable</a:t>
            </a:r>
            <a:r>
              <a:rPr lang="nb-NO" dirty="0"/>
              <a:t> </a:t>
            </a:r>
            <a:r>
              <a:rPr lang="nb-NO" dirty="0" err="1"/>
              <a:t>models</a:t>
            </a:r>
            <a:r>
              <a:rPr lang="nb-NO" dirty="0"/>
              <a:t>:</a:t>
            </a:r>
            <a:br>
              <a:rPr lang="nb-NO" dirty="0"/>
            </a:br>
            <a:r>
              <a:rPr lang="nb-NO" dirty="0" err="1"/>
              <a:t>Decision</a:t>
            </a:r>
            <a:r>
              <a:rPr lang="nb-NO" dirty="0"/>
              <a:t> </a:t>
            </a:r>
            <a:r>
              <a:rPr lang="nb-NO" dirty="0" err="1"/>
              <a:t>tree</a:t>
            </a:r>
            <a:endParaRPr lang="en-150" dirty="0"/>
          </a:p>
        </p:txBody>
      </p:sp>
      <p:pic>
        <p:nvPicPr>
          <p:cNvPr id="9" name="Bilde 8">
            <a:extLst>
              <a:ext uri="{FF2B5EF4-FFF2-40B4-BE49-F238E27FC236}">
                <a16:creationId xmlns:a16="http://schemas.microsoft.com/office/drawing/2014/main" id="{9DB15517-74B5-A8A8-1608-9A11BBE2A0E8}"/>
              </a:ext>
            </a:extLst>
          </p:cNvPr>
          <p:cNvPicPr>
            <a:picLocks noChangeAspect="1"/>
          </p:cNvPicPr>
          <p:nvPr/>
        </p:nvPicPr>
        <p:blipFill>
          <a:blip r:embed="rId2"/>
          <a:stretch>
            <a:fillRect/>
          </a:stretch>
        </p:blipFill>
        <p:spPr>
          <a:xfrm>
            <a:off x="471139" y="1312381"/>
            <a:ext cx="8201722" cy="3286624"/>
          </a:xfrm>
          <a:prstGeom prst="rect">
            <a:avLst/>
          </a:prstGeom>
        </p:spPr>
      </p:pic>
      <p:sp>
        <p:nvSpPr>
          <p:cNvPr id="3" name="TekstSylinder 2">
            <a:extLst>
              <a:ext uri="{FF2B5EF4-FFF2-40B4-BE49-F238E27FC236}">
                <a16:creationId xmlns:a16="http://schemas.microsoft.com/office/drawing/2014/main" id="{D468F6CC-ECC4-97D3-0E80-C6AF53563111}"/>
              </a:ext>
            </a:extLst>
          </p:cNvPr>
          <p:cNvSpPr txBox="1"/>
          <p:nvPr/>
        </p:nvSpPr>
        <p:spPr>
          <a:xfrm>
            <a:off x="5423674" y="3951073"/>
            <a:ext cx="3486149" cy="738664"/>
          </a:xfrm>
          <a:prstGeom prst="rect">
            <a:avLst/>
          </a:prstGeom>
          <a:noFill/>
        </p:spPr>
        <p:txBody>
          <a:bodyPr wrap="square" rtlCol="0">
            <a:spAutoFit/>
          </a:bodyPr>
          <a:lstStyle/>
          <a:p>
            <a:r>
              <a:rPr lang="nb-NO" sz="1400" dirty="0"/>
              <a:t>Here, </a:t>
            </a:r>
            <a:r>
              <a:rPr lang="nb-NO" sz="1400" dirty="0" err="1"/>
              <a:t>we</a:t>
            </a:r>
            <a:r>
              <a:rPr lang="nb-NO" sz="1400" dirty="0"/>
              <a:t> </a:t>
            </a:r>
            <a:r>
              <a:rPr lang="nb-NO" sz="1400" dirty="0" err="1"/>
              <a:t>can</a:t>
            </a:r>
            <a:r>
              <a:rPr lang="nb-NO" sz="1400" dirty="0"/>
              <a:t> interpret </a:t>
            </a:r>
            <a:r>
              <a:rPr lang="nb-NO" sz="1400" dirty="0" err="1"/>
              <a:t>the</a:t>
            </a:r>
            <a:r>
              <a:rPr lang="nb-NO" sz="1400" dirty="0"/>
              <a:t> </a:t>
            </a:r>
            <a:r>
              <a:rPr lang="nb-NO" sz="1400" dirty="0" err="1"/>
              <a:t>model’s</a:t>
            </a:r>
            <a:r>
              <a:rPr lang="nb-NO" sz="1400" dirty="0"/>
              <a:t> </a:t>
            </a:r>
            <a:r>
              <a:rPr lang="nb-NO" sz="1400" dirty="0" err="1"/>
              <a:t>decision</a:t>
            </a:r>
            <a:r>
              <a:rPr lang="nb-NO" sz="1400" dirty="0"/>
              <a:t> by </a:t>
            </a:r>
            <a:r>
              <a:rPr lang="nb-NO" sz="1400" dirty="0" err="1"/>
              <a:t>following</a:t>
            </a:r>
            <a:r>
              <a:rPr lang="nb-NO" sz="1400" dirty="0"/>
              <a:t> </a:t>
            </a:r>
            <a:r>
              <a:rPr lang="nb-NO" sz="1400" dirty="0" err="1"/>
              <a:t>the</a:t>
            </a:r>
            <a:r>
              <a:rPr lang="nb-NO" sz="1400" dirty="0"/>
              <a:t> </a:t>
            </a:r>
            <a:r>
              <a:rPr lang="nb-NO" sz="1400" dirty="0" err="1"/>
              <a:t>branches</a:t>
            </a:r>
            <a:r>
              <a:rPr lang="nb-NO" sz="1400" dirty="0"/>
              <a:t> </a:t>
            </a:r>
            <a:r>
              <a:rPr lang="nb-NO" sz="1400" dirty="0" err="1"/>
              <a:t>of</a:t>
            </a:r>
            <a:r>
              <a:rPr lang="nb-NO" sz="1400" dirty="0"/>
              <a:t> </a:t>
            </a:r>
            <a:r>
              <a:rPr lang="nb-NO" sz="1400" dirty="0" err="1"/>
              <a:t>the</a:t>
            </a:r>
            <a:r>
              <a:rPr lang="nb-NO" sz="1400" dirty="0"/>
              <a:t> </a:t>
            </a:r>
            <a:r>
              <a:rPr lang="nb-NO" sz="1400" dirty="0" err="1"/>
              <a:t>tree</a:t>
            </a:r>
            <a:r>
              <a:rPr lang="nb-NO" sz="1400" dirty="0"/>
              <a:t>.</a:t>
            </a:r>
            <a:endParaRPr lang="en-150" sz="1400" dirty="0"/>
          </a:p>
        </p:txBody>
      </p:sp>
    </p:spTree>
    <p:extLst>
      <p:ext uri="{BB962C8B-B14F-4D97-AF65-F5344CB8AC3E}">
        <p14:creationId xmlns:p14="http://schemas.microsoft.com/office/powerpoint/2010/main" val="2283032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E8B75E4-0A6C-0998-976E-D53493EA572D}"/>
              </a:ext>
            </a:extLst>
          </p:cNvPr>
          <p:cNvSpPr>
            <a:spLocks noGrp="1"/>
          </p:cNvSpPr>
          <p:nvPr>
            <p:ph type="title"/>
          </p:nvPr>
        </p:nvSpPr>
        <p:spPr/>
        <p:txBody>
          <a:bodyPr/>
          <a:lstStyle/>
          <a:p>
            <a:r>
              <a:rPr lang="nb-NO" dirty="0" err="1"/>
              <a:t>Saliency</a:t>
            </a:r>
            <a:r>
              <a:rPr lang="nb-NO" dirty="0"/>
              <a:t> </a:t>
            </a:r>
            <a:r>
              <a:rPr lang="nb-NO" dirty="0" err="1"/>
              <a:t>maps</a:t>
            </a:r>
            <a:endParaRPr lang="en-150" dirty="0"/>
          </a:p>
        </p:txBody>
      </p:sp>
      <p:sp>
        <p:nvSpPr>
          <p:cNvPr id="3" name="Plassholder for innhold 2">
            <a:extLst>
              <a:ext uri="{FF2B5EF4-FFF2-40B4-BE49-F238E27FC236}">
                <a16:creationId xmlns:a16="http://schemas.microsoft.com/office/drawing/2014/main" id="{5786A679-4E08-038F-FA7F-0B997A1FF041}"/>
              </a:ext>
            </a:extLst>
          </p:cNvPr>
          <p:cNvSpPr>
            <a:spLocks noGrp="1"/>
          </p:cNvSpPr>
          <p:nvPr>
            <p:ph idx="1"/>
          </p:nvPr>
        </p:nvSpPr>
        <p:spPr/>
        <p:txBody>
          <a:bodyPr>
            <a:normAutofit/>
          </a:bodyPr>
          <a:lstStyle/>
          <a:p>
            <a:pPr marL="0" indent="0">
              <a:buNone/>
            </a:pPr>
            <a:r>
              <a:rPr lang="nb-NO" sz="1800" dirty="0" err="1"/>
              <a:t>Saliency</a:t>
            </a:r>
            <a:r>
              <a:rPr lang="nb-NO" sz="1800" dirty="0"/>
              <a:t> </a:t>
            </a:r>
            <a:r>
              <a:rPr lang="nb-NO" sz="1800" dirty="0" err="1"/>
              <a:t>maps</a:t>
            </a:r>
            <a:r>
              <a:rPr lang="nb-NO" sz="1800" dirty="0"/>
              <a:t> </a:t>
            </a:r>
            <a:r>
              <a:rPr lang="nb-NO" sz="1800" dirty="0" err="1"/>
              <a:t>capture</a:t>
            </a:r>
            <a:r>
              <a:rPr lang="nb-NO" sz="1800" dirty="0"/>
              <a:t> image regions </a:t>
            </a:r>
            <a:r>
              <a:rPr lang="nb-NO" sz="1800" dirty="0" err="1"/>
              <a:t>contributing</a:t>
            </a:r>
            <a:r>
              <a:rPr lang="nb-NO" sz="1800" dirty="0"/>
              <a:t> </a:t>
            </a:r>
            <a:r>
              <a:rPr lang="nb-NO" sz="1800" dirty="0" err="1"/>
              <a:t>the</a:t>
            </a:r>
            <a:r>
              <a:rPr lang="nb-NO" sz="1800" dirty="0"/>
              <a:t> most to </a:t>
            </a:r>
            <a:r>
              <a:rPr lang="nb-NO" sz="1800" dirty="0" err="1"/>
              <a:t>the</a:t>
            </a:r>
            <a:r>
              <a:rPr lang="nb-NO" sz="1800" dirty="0"/>
              <a:t> </a:t>
            </a:r>
            <a:r>
              <a:rPr lang="nb-NO" sz="1800" dirty="0" err="1"/>
              <a:t>model’s</a:t>
            </a:r>
            <a:r>
              <a:rPr lang="nb-NO" sz="1800" dirty="0"/>
              <a:t> output.</a:t>
            </a:r>
            <a:endParaRPr lang="en-150" sz="1800" dirty="0"/>
          </a:p>
        </p:txBody>
      </p:sp>
      <p:pic>
        <p:nvPicPr>
          <p:cNvPr id="11" name="Bilde 10">
            <a:extLst>
              <a:ext uri="{FF2B5EF4-FFF2-40B4-BE49-F238E27FC236}">
                <a16:creationId xmlns:a16="http://schemas.microsoft.com/office/drawing/2014/main" id="{B3986E7F-E56B-05A8-F199-B58E72C49F78}"/>
              </a:ext>
            </a:extLst>
          </p:cNvPr>
          <p:cNvPicPr>
            <a:picLocks noChangeAspect="1"/>
          </p:cNvPicPr>
          <p:nvPr/>
        </p:nvPicPr>
        <p:blipFill>
          <a:blip r:embed="rId2"/>
          <a:stretch>
            <a:fillRect/>
          </a:stretch>
        </p:blipFill>
        <p:spPr>
          <a:xfrm>
            <a:off x="4673944" y="1410820"/>
            <a:ext cx="4176486" cy="3183803"/>
          </a:xfrm>
          <a:prstGeom prst="rect">
            <a:avLst/>
          </a:prstGeom>
        </p:spPr>
      </p:pic>
      <p:sp>
        <p:nvSpPr>
          <p:cNvPr id="12" name="Plassholder for innhold 2">
            <a:extLst>
              <a:ext uri="{FF2B5EF4-FFF2-40B4-BE49-F238E27FC236}">
                <a16:creationId xmlns:a16="http://schemas.microsoft.com/office/drawing/2014/main" id="{43AEDB1C-B46C-4DA3-BEF8-5CA737B2AD0A}"/>
              </a:ext>
            </a:extLst>
          </p:cNvPr>
          <p:cNvSpPr txBox="1">
            <a:spLocks/>
          </p:cNvSpPr>
          <p:nvPr/>
        </p:nvSpPr>
        <p:spPr>
          <a:xfrm>
            <a:off x="293570" y="1572117"/>
            <a:ext cx="4278431" cy="3107794"/>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Font typeface="Arial"/>
              <a:buNone/>
            </a:pPr>
            <a:r>
              <a:rPr lang="nb-NO" sz="1800" dirty="0"/>
              <a:t>The most </a:t>
            </a:r>
            <a:r>
              <a:rPr lang="nb-NO" sz="1800" dirty="0" err="1"/>
              <a:t>straightfoward</a:t>
            </a:r>
            <a:r>
              <a:rPr lang="nb-NO" sz="1800" dirty="0"/>
              <a:t> </a:t>
            </a:r>
            <a:r>
              <a:rPr lang="nb-NO" sz="1800" dirty="0" err="1"/>
              <a:t>approach</a:t>
            </a:r>
            <a:r>
              <a:rPr lang="nb-NO" sz="1800" dirty="0"/>
              <a:t> to </a:t>
            </a:r>
            <a:r>
              <a:rPr lang="nb-NO" sz="1800" dirty="0" err="1"/>
              <a:t>produce</a:t>
            </a:r>
            <a:r>
              <a:rPr lang="nb-NO" sz="1800" dirty="0"/>
              <a:t> </a:t>
            </a:r>
            <a:r>
              <a:rPr lang="nb-NO" sz="1800" dirty="0" err="1"/>
              <a:t>such</a:t>
            </a:r>
            <a:r>
              <a:rPr lang="nb-NO" sz="1800" dirty="0"/>
              <a:t> a </a:t>
            </a:r>
            <a:r>
              <a:rPr lang="nb-NO" sz="1800" dirty="0" err="1"/>
              <a:t>map</a:t>
            </a:r>
            <a:r>
              <a:rPr lang="nb-NO" sz="1800" dirty="0"/>
              <a:t> is to </a:t>
            </a:r>
            <a:r>
              <a:rPr lang="nb-NO" sz="1800" dirty="0" err="1"/>
              <a:t>calculate</a:t>
            </a:r>
            <a:r>
              <a:rPr lang="nb-NO" sz="1800" dirty="0"/>
              <a:t> </a:t>
            </a:r>
            <a:r>
              <a:rPr lang="nb-NO" sz="1800" dirty="0" err="1"/>
              <a:t>the</a:t>
            </a:r>
            <a:r>
              <a:rPr lang="nb-NO" sz="1800" dirty="0"/>
              <a:t> </a:t>
            </a:r>
            <a:r>
              <a:rPr lang="nb-NO" sz="1800" b="1" dirty="0"/>
              <a:t>gradient</a:t>
            </a:r>
            <a:r>
              <a:rPr lang="nb-NO" sz="1800" dirty="0"/>
              <a:t> </a:t>
            </a:r>
            <a:r>
              <a:rPr lang="nb-NO" sz="1800" dirty="0" err="1"/>
              <a:t>of</a:t>
            </a:r>
            <a:r>
              <a:rPr lang="nb-NO" sz="1800" dirty="0"/>
              <a:t> </a:t>
            </a:r>
            <a:r>
              <a:rPr lang="nb-NO" sz="1800" dirty="0" err="1"/>
              <a:t>the</a:t>
            </a:r>
            <a:r>
              <a:rPr lang="nb-NO" sz="1800" dirty="0"/>
              <a:t> </a:t>
            </a:r>
            <a:r>
              <a:rPr lang="nb-NO" sz="1800" dirty="0" err="1"/>
              <a:t>model’s</a:t>
            </a:r>
            <a:r>
              <a:rPr lang="nb-NO" sz="1800" dirty="0"/>
              <a:t> output </a:t>
            </a:r>
            <a:r>
              <a:rPr lang="nb-NO" sz="1800" dirty="0" err="1"/>
              <a:t>with</a:t>
            </a:r>
            <a:r>
              <a:rPr lang="nb-NO" sz="1800" dirty="0"/>
              <a:t> </a:t>
            </a:r>
            <a:r>
              <a:rPr lang="nb-NO" sz="1800" dirty="0" err="1"/>
              <a:t>respect</a:t>
            </a:r>
            <a:r>
              <a:rPr lang="nb-NO" sz="1800" dirty="0"/>
              <a:t> to </a:t>
            </a:r>
            <a:r>
              <a:rPr lang="nb-NO" sz="1800" dirty="0" err="1"/>
              <a:t>each</a:t>
            </a:r>
            <a:r>
              <a:rPr lang="nb-NO" sz="1800" dirty="0"/>
              <a:t> </a:t>
            </a:r>
            <a:r>
              <a:rPr lang="nb-NO" sz="1800" dirty="0" err="1"/>
              <a:t>pixel</a:t>
            </a:r>
            <a:r>
              <a:rPr lang="nb-NO" sz="1800" dirty="0"/>
              <a:t> in </a:t>
            </a:r>
            <a:r>
              <a:rPr lang="nb-NO" sz="1800" dirty="0" err="1"/>
              <a:t>the</a:t>
            </a:r>
            <a:r>
              <a:rPr lang="nb-NO" sz="1800" dirty="0"/>
              <a:t> input image.</a:t>
            </a:r>
          </a:p>
          <a:p>
            <a:pPr marL="0" indent="0" algn="just">
              <a:buFont typeface="Arial"/>
              <a:buNone/>
            </a:pPr>
            <a:r>
              <a:rPr lang="nb-NO" sz="1800" dirty="0"/>
              <a:t>In Python and </a:t>
            </a:r>
            <a:r>
              <a:rPr lang="nb-NO" sz="1800" dirty="0" err="1"/>
              <a:t>Matlab</a:t>
            </a:r>
            <a:r>
              <a:rPr lang="nb-NO" sz="1800" dirty="0"/>
              <a:t>, </a:t>
            </a:r>
            <a:r>
              <a:rPr lang="nb-NO" sz="1800" dirty="0" err="1"/>
              <a:t>there</a:t>
            </a:r>
            <a:r>
              <a:rPr lang="nb-NO" sz="1800" dirty="0"/>
              <a:t> </a:t>
            </a:r>
            <a:r>
              <a:rPr lang="nb-NO" sz="1800" dirty="0" err="1"/>
              <a:t>are</a:t>
            </a:r>
            <a:r>
              <a:rPr lang="nb-NO" sz="1800" dirty="0"/>
              <a:t> </a:t>
            </a:r>
            <a:r>
              <a:rPr lang="nb-NO" sz="1800" dirty="0" err="1"/>
              <a:t>libraries</a:t>
            </a:r>
            <a:r>
              <a:rPr lang="nb-NO" sz="1800" dirty="0"/>
              <a:t> to </a:t>
            </a:r>
            <a:r>
              <a:rPr lang="nb-NO" sz="1800" dirty="0" err="1"/>
              <a:t>perform</a:t>
            </a:r>
            <a:r>
              <a:rPr lang="nb-NO" sz="1800" dirty="0"/>
              <a:t> «</a:t>
            </a:r>
            <a:r>
              <a:rPr lang="nb-NO" sz="1800" dirty="0" err="1"/>
              <a:t>automatic</a:t>
            </a:r>
            <a:r>
              <a:rPr lang="nb-NO" sz="1800" dirty="0"/>
              <a:t> </a:t>
            </a:r>
            <a:r>
              <a:rPr lang="nb-NO" sz="1800" dirty="0" err="1"/>
              <a:t>differentiation</a:t>
            </a:r>
            <a:r>
              <a:rPr lang="nb-NO" sz="1800" dirty="0"/>
              <a:t>», </a:t>
            </a:r>
            <a:r>
              <a:rPr lang="nb-NO" sz="1800" dirty="0" err="1"/>
              <a:t>which</a:t>
            </a:r>
            <a:r>
              <a:rPr lang="nb-NO" sz="1800" dirty="0"/>
              <a:t> </a:t>
            </a:r>
            <a:r>
              <a:rPr lang="nb-NO" sz="1800" dirty="0" err="1"/>
              <a:t>will</a:t>
            </a:r>
            <a:r>
              <a:rPr lang="nb-NO" sz="1800" dirty="0"/>
              <a:t> </a:t>
            </a:r>
            <a:r>
              <a:rPr lang="nb-NO" sz="1800" dirty="0" err="1"/>
              <a:t>calculate</a:t>
            </a:r>
            <a:r>
              <a:rPr lang="nb-NO" sz="1800" dirty="0"/>
              <a:t> </a:t>
            </a:r>
            <a:r>
              <a:rPr lang="nb-NO" sz="1800" dirty="0" err="1"/>
              <a:t>this</a:t>
            </a:r>
            <a:r>
              <a:rPr lang="nb-NO" sz="1800" dirty="0"/>
              <a:t> gradient for </a:t>
            </a:r>
            <a:r>
              <a:rPr lang="nb-NO" sz="1800" dirty="0" err="1"/>
              <a:t>you</a:t>
            </a:r>
            <a:r>
              <a:rPr lang="nb-NO" sz="1800" dirty="0"/>
              <a:t> (</a:t>
            </a:r>
            <a:r>
              <a:rPr lang="nb-NO" sz="1800" dirty="0" err="1"/>
              <a:t>provided</a:t>
            </a:r>
            <a:r>
              <a:rPr lang="nb-NO" sz="1800" dirty="0"/>
              <a:t> </a:t>
            </a:r>
            <a:r>
              <a:rPr lang="nb-NO" sz="1800" dirty="0" err="1"/>
              <a:t>that</a:t>
            </a:r>
            <a:r>
              <a:rPr lang="nb-NO" sz="1800" dirty="0"/>
              <a:t> </a:t>
            </a:r>
            <a:r>
              <a:rPr lang="nb-NO" sz="1800" dirty="0" err="1"/>
              <a:t>your</a:t>
            </a:r>
            <a:r>
              <a:rPr lang="nb-NO" sz="1800" dirty="0"/>
              <a:t> </a:t>
            </a:r>
            <a:r>
              <a:rPr lang="nb-NO" sz="1800" dirty="0" err="1"/>
              <a:t>model</a:t>
            </a:r>
            <a:r>
              <a:rPr lang="nb-NO" sz="1800" dirty="0"/>
              <a:t> is </a:t>
            </a:r>
            <a:r>
              <a:rPr lang="nb-NO" sz="1800" dirty="0" err="1"/>
              <a:t>differentiable</a:t>
            </a:r>
            <a:r>
              <a:rPr lang="nb-NO" sz="1800" dirty="0"/>
              <a:t>).</a:t>
            </a:r>
          </a:p>
          <a:p>
            <a:pPr marL="0" indent="0" algn="just">
              <a:buFont typeface="Arial"/>
              <a:buNone/>
            </a:pPr>
            <a:endParaRPr lang="nb-NO" sz="1800" dirty="0"/>
          </a:p>
          <a:p>
            <a:pPr marL="0" indent="0" algn="just">
              <a:buFont typeface="Arial"/>
              <a:buNone/>
            </a:pPr>
            <a:r>
              <a:rPr lang="nb-NO" sz="1800" dirty="0" err="1"/>
              <a:t>Example</a:t>
            </a:r>
            <a:r>
              <a:rPr lang="nb-NO" sz="1800" dirty="0"/>
              <a:t> </a:t>
            </a:r>
            <a:r>
              <a:rPr lang="nb-NO" sz="1800" dirty="0" err="1"/>
              <a:t>of</a:t>
            </a:r>
            <a:r>
              <a:rPr lang="nb-NO" sz="1800" dirty="0"/>
              <a:t> gradient-</a:t>
            </a:r>
            <a:r>
              <a:rPr lang="nb-NO" sz="1800" dirty="0" err="1"/>
              <a:t>based</a:t>
            </a:r>
            <a:r>
              <a:rPr lang="nb-NO" sz="1800" dirty="0"/>
              <a:t> </a:t>
            </a:r>
            <a:r>
              <a:rPr lang="nb-NO" sz="1800" dirty="0" err="1"/>
              <a:t>methods</a:t>
            </a:r>
            <a:r>
              <a:rPr lang="nb-NO" sz="1800" dirty="0"/>
              <a:t> </a:t>
            </a:r>
            <a:r>
              <a:rPr lang="nb-NO" sz="1800" dirty="0" err="1"/>
              <a:t>include</a:t>
            </a:r>
            <a:r>
              <a:rPr lang="nb-NO" sz="1800" dirty="0"/>
              <a:t> </a:t>
            </a:r>
            <a:r>
              <a:rPr lang="nb-NO" sz="1800" dirty="0" err="1"/>
              <a:t>GradCAM</a:t>
            </a:r>
            <a:r>
              <a:rPr lang="nb-NO" sz="1800" dirty="0"/>
              <a:t> (Gradient-</a:t>
            </a:r>
            <a:r>
              <a:rPr lang="nb-NO" sz="1800" dirty="0" err="1"/>
              <a:t>weighted</a:t>
            </a:r>
            <a:r>
              <a:rPr lang="nb-NO" sz="1800" dirty="0"/>
              <a:t> Class </a:t>
            </a:r>
            <a:r>
              <a:rPr lang="nb-NO" sz="1800" dirty="0" err="1"/>
              <a:t>Activation</a:t>
            </a:r>
            <a:r>
              <a:rPr lang="nb-NO" sz="1800" dirty="0"/>
              <a:t> </a:t>
            </a:r>
            <a:r>
              <a:rPr lang="nb-NO" sz="1800" dirty="0" err="1"/>
              <a:t>Mapping</a:t>
            </a:r>
            <a:r>
              <a:rPr lang="nb-NO" sz="1800" dirty="0"/>
              <a:t>) and RISE (</a:t>
            </a:r>
            <a:r>
              <a:rPr lang="en-US" sz="1800" dirty="0"/>
              <a:t>Randomized Input Sampling for Explanation of Black-box Models)</a:t>
            </a:r>
            <a:r>
              <a:rPr lang="nb-NO" sz="1800" dirty="0"/>
              <a:t>.</a:t>
            </a:r>
          </a:p>
        </p:txBody>
      </p:sp>
    </p:spTree>
    <p:extLst>
      <p:ext uri="{BB962C8B-B14F-4D97-AF65-F5344CB8AC3E}">
        <p14:creationId xmlns:p14="http://schemas.microsoft.com/office/powerpoint/2010/main" val="3010381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E8B75E4-0A6C-0998-976E-D53493EA572D}"/>
              </a:ext>
            </a:extLst>
          </p:cNvPr>
          <p:cNvSpPr>
            <a:spLocks noGrp="1"/>
          </p:cNvSpPr>
          <p:nvPr>
            <p:ph type="title"/>
          </p:nvPr>
        </p:nvSpPr>
        <p:spPr/>
        <p:txBody>
          <a:bodyPr/>
          <a:lstStyle/>
          <a:p>
            <a:r>
              <a:rPr lang="nb-NO" dirty="0"/>
              <a:t>SHAP</a:t>
            </a:r>
            <a:endParaRPr lang="en-150" dirty="0"/>
          </a:p>
        </p:txBody>
      </p:sp>
      <p:sp>
        <p:nvSpPr>
          <p:cNvPr id="3" name="Plassholder for innhold 2">
            <a:extLst>
              <a:ext uri="{FF2B5EF4-FFF2-40B4-BE49-F238E27FC236}">
                <a16:creationId xmlns:a16="http://schemas.microsoft.com/office/drawing/2014/main" id="{5786A679-4E08-038F-FA7F-0B997A1FF041}"/>
              </a:ext>
            </a:extLst>
          </p:cNvPr>
          <p:cNvSpPr>
            <a:spLocks noGrp="1"/>
          </p:cNvSpPr>
          <p:nvPr>
            <p:ph idx="1"/>
          </p:nvPr>
        </p:nvSpPr>
        <p:spPr>
          <a:xfrm>
            <a:off x="293571" y="886760"/>
            <a:ext cx="4640844" cy="3651347"/>
          </a:xfrm>
        </p:spPr>
        <p:txBody>
          <a:bodyPr>
            <a:noAutofit/>
          </a:bodyPr>
          <a:lstStyle/>
          <a:p>
            <a:pPr marL="0" indent="0" algn="just">
              <a:buNone/>
            </a:pPr>
            <a:r>
              <a:rPr lang="en-US" sz="1100" dirty="0"/>
              <a:t>SHAP (</a:t>
            </a:r>
            <a:r>
              <a:rPr lang="en-US" sz="1100" dirty="0" err="1"/>
              <a:t>SHapley</a:t>
            </a:r>
            <a:r>
              <a:rPr lang="en-US" sz="1100" dirty="0"/>
              <a:t> Additive </a:t>
            </a:r>
            <a:r>
              <a:rPr lang="en-US" sz="1100" dirty="0" err="1"/>
              <a:t>exPlanations</a:t>
            </a:r>
            <a:r>
              <a:rPr lang="en-US" sz="1100" dirty="0"/>
              <a:t>) values are a tool used to interpret the predictions of machine learning models. They help explain the output of any model by measuring the impact of each feature on the prediction.</a:t>
            </a:r>
          </a:p>
          <a:p>
            <a:pPr marL="0" indent="0" algn="just">
              <a:buNone/>
            </a:pPr>
            <a:endParaRPr lang="en-US" sz="1100" dirty="0"/>
          </a:p>
          <a:p>
            <a:pPr marL="0" indent="0" algn="just">
              <a:buNone/>
            </a:pPr>
            <a:r>
              <a:rPr lang="en-US" sz="1100" dirty="0"/>
              <a:t>SHAP values are grounded in game theory, particularly the concept of Shapley values, which allocate payouts to players based on their contribution to the total game winnings.</a:t>
            </a:r>
          </a:p>
          <a:p>
            <a:pPr marL="0" indent="0" algn="just">
              <a:buNone/>
            </a:pPr>
            <a:endParaRPr lang="en-US" sz="1100" dirty="0"/>
          </a:p>
          <a:p>
            <a:pPr marL="0" indent="0" algn="just">
              <a:buNone/>
            </a:pPr>
            <a:r>
              <a:rPr lang="en-US" sz="1100" b="1" dirty="0"/>
              <a:t>How They Work</a:t>
            </a:r>
            <a:r>
              <a:rPr lang="en-US" sz="1100" dirty="0"/>
              <a:t>: For a given prediction, SHAP values quantify how much each input feature contributes, positively or negatively, towards the final output compared to the average prediction for the dataset. It makes a prediction using the model both </a:t>
            </a:r>
            <a:r>
              <a:rPr lang="en-US" sz="1100" b="1" dirty="0"/>
              <a:t>including and excluding the feature of interest </a:t>
            </a:r>
            <a:r>
              <a:rPr lang="en-US" sz="1100" dirty="0"/>
              <a:t>to understand how the presence or absence of a feature affects the prediction. the difference in prediction with the feature present and the prediction with the feature absent for each subset represents the </a:t>
            </a:r>
            <a:r>
              <a:rPr lang="en-US" sz="1100" b="1" dirty="0"/>
              <a:t>marginal contribution</a:t>
            </a:r>
            <a:r>
              <a:rPr lang="en-US" sz="1100" dirty="0"/>
              <a:t> of the feature to the prediction. Since there are many possible subsets, and a feature's contribution might vary depending on what other features are present, the SHAP value is calculated as the </a:t>
            </a:r>
            <a:r>
              <a:rPr lang="en-US" sz="1100" b="1" dirty="0"/>
              <a:t>weighted average</a:t>
            </a:r>
            <a:r>
              <a:rPr lang="en-US" sz="1100" dirty="0"/>
              <a:t> of these marginal contributions across all subsets. </a:t>
            </a:r>
            <a:endParaRPr lang="en-150" sz="1100" dirty="0"/>
          </a:p>
        </p:txBody>
      </p:sp>
      <p:sp>
        <p:nvSpPr>
          <p:cNvPr id="7" name="TekstSylinder 6">
            <a:extLst>
              <a:ext uri="{FF2B5EF4-FFF2-40B4-BE49-F238E27FC236}">
                <a16:creationId xmlns:a16="http://schemas.microsoft.com/office/drawing/2014/main" id="{FB606850-0B19-B754-0DA9-2B2C35B77411}"/>
              </a:ext>
            </a:extLst>
          </p:cNvPr>
          <p:cNvSpPr txBox="1"/>
          <p:nvPr/>
        </p:nvSpPr>
        <p:spPr>
          <a:xfrm>
            <a:off x="5222351" y="3540073"/>
            <a:ext cx="3730258" cy="1015663"/>
          </a:xfrm>
          <a:prstGeom prst="rect">
            <a:avLst/>
          </a:prstGeom>
          <a:noFill/>
        </p:spPr>
        <p:txBody>
          <a:bodyPr wrap="square" rtlCol="0">
            <a:spAutoFit/>
          </a:bodyPr>
          <a:lstStyle/>
          <a:p>
            <a:pPr algn="just"/>
            <a:r>
              <a:rPr lang="nb-NO" sz="1200" dirty="0" err="1"/>
              <a:t>Example</a:t>
            </a:r>
            <a:r>
              <a:rPr lang="nb-NO" sz="1200" dirty="0"/>
              <a:t> </a:t>
            </a:r>
            <a:r>
              <a:rPr lang="nb-NO" sz="1200" dirty="0" err="1"/>
              <a:t>of</a:t>
            </a:r>
            <a:r>
              <a:rPr lang="nb-NO" sz="1200" dirty="0"/>
              <a:t> SHAP </a:t>
            </a:r>
            <a:r>
              <a:rPr lang="nb-NO" sz="1200" dirty="0" err="1"/>
              <a:t>values</a:t>
            </a:r>
            <a:r>
              <a:rPr lang="nb-NO" sz="1200" dirty="0"/>
              <a:t> for a </a:t>
            </a:r>
            <a:r>
              <a:rPr lang="nb-NO" sz="1200" dirty="0" err="1"/>
              <a:t>model</a:t>
            </a:r>
            <a:r>
              <a:rPr lang="nb-NO" sz="1200" dirty="0"/>
              <a:t> </a:t>
            </a:r>
            <a:r>
              <a:rPr lang="nb-NO" sz="1200" dirty="0" err="1"/>
              <a:t>predicting</a:t>
            </a:r>
            <a:r>
              <a:rPr lang="nb-NO" sz="1200" dirty="0"/>
              <a:t> </a:t>
            </a:r>
            <a:r>
              <a:rPr lang="nb-NO" sz="1200" dirty="0" err="1"/>
              <a:t>whether</a:t>
            </a:r>
            <a:r>
              <a:rPr lang="nb-NO" sz="1200" dirty="0"/>
              <a:t> a </a:t>
            </a:r>
            <a:r>
              <a:rPr lang="nb-NO" sz="1200" dirty="0" err="1"/>
              <a:t>customer</a:t>
            </a:r>
            <a:r>
              <a:rPr lang="nb-NO" sz="1200" dirty="0"/>
              <a:t> is </a:t>
            </a:r>
            <a:r>
              <a:rPr lang="nb-NO" sz="1200" dirty="0" err="1"/>
              <a:t>likely</a:t>
            </a:r>
            <a:r>
              <a:rPr lang="nb-NO" sz="1200" dirty="0"/>
              <a:t> to </a:t>
            </a:r>
            <a:r>
              <a:rPr lang="nb-NO" sz="1200" dirty="0" err="1"/>
              <a:t>cancel</a:t>
            </a:r>
            <a:r>
              <a:rPr lang="nb-NO" sz="1200" dirty="0"/>
              <a:t> </a:t>
            </a:r>
            <a:r>
              <a:rPr lang="nb-NO" sz="1200" dirty="0" err="1"/>
              <a:t>their</a:t>
            </a:r>
            <a:r>
              <a:rPr lang="nb-NO" sz="1200" dirty="0"/>
              <a:t> </a:t>
            </a:r>
            <a:r>
              <a:rPr lang="nb-NO" sz="1200" dirty="0" err="1"/>
              <a:t>phone</a:t>
            </a:r>
            <a:r>
              <a:rPr lang="nb-NO" sz="1200" dirty="0"/>
              <a:t> </a:t>
            </a:r>
            <a:r>
              <a:rPr lang="nb-NO" sz="1200" dirty="0" err="1"/>
              <a:t>subscription</a:t>
            </a:r>
            <a:r>
              <a:rPr lang="nb-NO" sz="1200" dirty="0"/>
              <a:t>. It shows </a:t>
            </a:r>
            <a:r>
              <a:rPr lang="nb-NO" sz="1200" dirty="0" err="1"/>
              <a:t>that</a:t>
            </a:r>
            <a:r>
              <a:rPr lang="nb-NO" sz="1200" dirty="0"/>
              <a:t> «status» and «</a:t>
            </a:r>
            <a:r>
              <a:rPr lang="nb-NO" sz="1200" dirty="0" err="1"/>
              <a:t>complaints</a:t>
            </a:r>
            <a:r>
              <a:rPr lang="nb-NO" sz="1200" dirty="0"/>
              <a:t>» </a:t>
            </a:r>
            <a:r>
              <a:rPr lang="nb-NO" sz="1200" dirty="0" err="1"/>
              <a:t>are</a:t>
            </a:r>
            <a:r>
              <a:rPr lang="nb-NO" sz="1200" dirty="0"/>
              <a:t> </a:t>
            </a:r>
            <a:r>
              <a:rPr lang="nb-NO" sz="1200" dirty="0" err="1"/>
              <a:t>mostly</a:t>
            </a:r>
            <a:r>
              <a:rPr lang="nb-NO" sz="1200" dirty="0"/>
              <a:t> used by </a:t>
            </a:r>
            <a:r>
              <a:rPr lang="nb-NO" sz="1200" dirty="0" err="1"/>
              <a:t>the</a:t>
            </a:r>
            <a:r>
              <a:rPr lang="nb-NO" sz="1200" dirty="0"/>
              <a:t> </a:t>
            </a:r>
            <a:r>
              <a:rPr lang="nb-NO" sz="1200" dirty="0" err="1"/>
              <a:t>model</a:t>
            </a:r>
            <a:r>
              <a:rPr lang="nb-NO" sz="1200" dirty="0"/>
              <a:t> to make </a:t>
            </a:r>
            <a:r>
              <a:rPr lang="nb-NO" sz="1200" dirty="0" err="1"/>
              <a:t>its</a:t>
            </a:r>
            <a:r>
              <a:rPr lang="nb-NO" sz="1200" dirty="0"/>
              <a:t> </a:t>
            </a:r>
            <a:r>
              <a:rPr lang="nb-NO" sz="1200" dirty="0" err="1"/>
              <a:t>decision</a:t>
            </a:r>
            <a:endParaRPr lang="en-150" sz="1200" dirty="0"/>
          </a:p>
        </p:txBody>
      </p:sp>
      <p:pic>
        <p:nvPicPr>
          <p:cNvPr id="9" name="Bilde 8" descr="Et bilde som inneholder tekst, skjermbilde, Font, design&#10;&#10;Automatisk generert beskrivelse">
            <a:extLst>
              <a:ext uri="{FF2B5EF4-FFF2-40B4-BE49-F238E27FC236}">
                <a16:creationId xmlns:a16="http://schemas.microsoft.com/office/drawing/2014/main" id="{13803127-9615-DE32-8D3E-6B95685B2ED8}"/>
              </a:ext>
            </a:extLst>
          </p:cNvPr>
          <p:cNvPicPr>
            <a:picLocks noChangeAspect="1"/>
          </p:cNvPicPr>
          <p:nvPr/>
        </p:nvPicPr>
        <p:blipFill>
          <a:blip r:embed="rId2"/>
          <a:stretch>
            <a:fillRect/>
          </a:stretch>
        </p:blipFill>
        <p:spPr>
          <a:xfrm>
            <a:off x="4992441" y="205979"/>
            <a:ext cx="3857988" cy="3218246"/>
          </a:xfrm>
          <a:prstGeom prst="rect">
            <a:avLst/>
          </a:prstGeom>
        </p:spPr>
      </p:pic>
      <p:cxnSp>
        <p:nvCxnSpPr>
          <p:cNvPr id="11" name="Rett pilkobling 10">
            <a:extLst>
              <a:ext uri="{FF2B5EF4-FFF2-40B4-BE49-F238E27FC236}">
                <a16:creationId xmlns:a16="http://schemas.microsoft.com/office/drawing/2014/main" id="{3FFE9867-459E-0538-61C3-5CBBBC8BE3D3}"/>
              </a:ext>
            </a:extLst>
          </p:cNvPr>
          <p:cNvCxnSpPr>
            <a:cxnSpLocks/>
          </p:cNvCxnSpPr>
          <p:nvPr/>
        </p:nvCxnSpPr>
        <p:spPr>
          <a:xfrm flipH="1">
            <a:off x="6830122" y="2462935"/>
            <a:ext cx="942278" cy="4989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kstSylinder 12">
            <a:extLst>
              <a:ext uri="{FF2B5EF4-FFF2-40B4-BE49-F238E27FC236}">
                <a16:creationId xmlns:a16="http://schemas.microsoft.com/office/drawing/2014/main" id="{441E0392-86E0-4F70-65AD-F260ACE6D280}"/>
              </a:ext>
            </a:extLst>
          </p:cNvPr>
          <p:cNvSpPr txBox="1"/>
          <p:nvPr/>
        </p:nvSpPr>
        <p:spPr>
          <a:xfrm>
            <a:off x="7804034" y="2047050"/>
            <a:ext cx="1148575" cy="830997"/>
          </a:xfrm>
          <a:prstGeom prst="rect">
            <a:avLst/>
          </a:prstGeom>
          <a:noFill/>
        </p:spPr>
        <p:txBody>
          <a:bodyPr wrap="square" rtlCol="0">
            <a:spAutoFit/>
          </a:bodyPr>
          <a:lstStyle/>
          <a:p>
            <a:r>
              <a:rPr lang="nb-NO" sz="1200" dirty="0"/>
              <a:t>Is </a:t>
            </a:r>
            <a:r>
              <a:rPr lang="nb-NO" sz="1200" dirty="0" err="1"/>
              <a:t>the</a:t>
            </a:r>
            <a:r>
              <a:rPr lang="nb-NO" sz="1200" dirty="0"/>
              <a:t> </a:t>
            </a:r>
            <a:r>
              <a:rPr lang="nb-NO" sz="1200" dirty="0" err="1"/>
              <a:t>customer</a:t>
            </a:r>
            <a:r>
              <a:rPr lang="nb-NO" sz="1200" dirty="0"/>
              <a:t> </a:t>
            </a:r>
            <a:r>
              <a:rPr lang="nb-NO" sz="1200" dirty="0" err="1"/>
              <a:t>likely</a:t>
            </a:r>
            <a:r>
              <a:rPr lang="nb-NO" sz="1200" dirty="0"/>
              <a:t> to </a:t>
            </a:r>
            <a:r>
              <a:rPr lang="nb-NO" sz="1200" dirty="0" err="1"/>
              <a:t>cancel</a:t>
            </a:r>
            <a:r>
              <a:rPr lang="nb-NO" sz="1200" dirty="0"/>
              <a:t> or not?</a:t>
            </a:r>
            <a:endParaRPr lang="en-150" sz="1200" dirty="0"/>
          </a:p>
        </p:txBody>
      </p:sp>
    </p:spTree>
    <p:extLst>
      <p:ext uri="{BB962C8B-B14F-4D97-AF65-F5344CB8AC3E}">
        <p14:creationId xmlns:p14="http://schemas.microsoft.com/office/powerpoint/2010/main" val="915692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E8B75E4-0A6C-0998-976E-D53493EA572D}"/>
              </a:ext>
            </a:extLst>
          </p:cNvPr>
          <p:cNvSpPr>
            <a:spLocks noGrp="1"/>
          </p:cNvSpPr>
          <p:nvPr>
            <p:ph type="title"/>
          </p:nvPr>
        </p:nvSpPr>
        <p:spPr/>
        <p:txBody>
          <a:bodyPr/>
          <a:lstStyle/>
          <a:p>
            <a:r>
              <a:rPr lang="nb-NO" dirty="0"/>
              <a:t>LIME</a:t>
            </a:r>
            <a:endParaRPr lang="en-150" dirty="0"/>
          </a:p>
        </p:txBody>
      </p:sp>
      <p:sp>
        <p:nvSpPr>
          <p:cNvPr id="3" name="Plassholder for innhold 2">
            <a:extLst>
              <a:ext uri="{FF2B5EF4-FFF2-40B4-BE49-F238E27FC236}">
                <a16:creationId xmlns:a16="http://schemas.microsoft.com/office/drawing/2014/main" id="{5786A679-4E08-038F-FA7F-0B997A1FF041}"/>
              </a:ext>
            </a:extLst>
          </p:cNvPr>
          <p:cNvSpPr>
            <a:spLocks noGrp="1"/>
          </p:cNvSpPr>
          <p:nvPr>
            <p:ph idx="1"/>
          </p:nvPr>
        </p:nvSpPr>
        <p:spPr>
          <a:xfrm>
            <a:off x="293571" y="1438172"/>
            <a:ext cx="5248586" cy="2827119"/>
          </a:xfrm>
        </p:spPr>
        <p:txBody>
          <a:bodyPr>
            <a:noAutofit/>
          </a:bodyPr>
          <a:lstStyle/>
          <a:p>
            <a:pPr marL="0" indent="0" algn="just">
              <a:buNone/>
            </a:pPr>
            <a:r>
              <a:rPr lang="en-US" sz="1400" b="1" dirty="0"/>
              <a:t>How it works</a:t>
            </a:r>
            <a:r>
              <a:rPr lang="en-US" sz="1400" dirty="0"/>
              <a:t>:</a:t>
            </a:r>
          </a:p>
          <a:p>
            <a:pPr algn="just"/>
            <a:r>
              <a:rPr lang="en-US" sz="1400" dirty="0"/>
              <a:t>LIME starts by creating a new dataset consisting of perturbed samples (variations) of the instance and obtaining predictions for these samples from the complex model. Each perturbed sample is then weighted based on its similarity to the original instance—the closer it is, the more weight it carries in the explanation.</a:t>
            </a:r>
          </a:p>
          <a:p>
            <a:pPr algn="just"/>
            <a:r>
              <a:rPr lang="en-US" sz="1400" dirty="0"/>
              <a:t>LIME then trains a simple model (like a linear regression or decision tree) on this new weighted dataset. This model is designed to be easy to understand and interpret.</a:t>
            </a:r>
          </a:p>
          <a:p>
            <a:pPr algn="just"/>
            <a:r>
              <a:rPr lang="en-US" sz="1400" dirty="0"/>
              <a:t>The simple model’s coefficients (for linear regression) or rules (for decision trees) serve as the explanation, indicating which features of the instance are most important for the prediction.</a:t>
            </a:r>
            <a:endParaRPr lang="en-150" sz="1400" dirty="0"/>
          </a:p>
        </p:txBody>
      </p:sp>
      <p:pic>
        <p:nvPicPr>
          <p:cNvPr id="6" name="Bilde 5" descr="Et bilde som inneholder skjermbilde, Grafikk, design&#10;&#10;Automatisk generert beskrivelse">
            <a:extLst>
              <a:ext uri="{FF2B5EF4-FFF2-40B4-BE49-F238E27FC236}">
                <a16:creationId xmlns:a16="http://schemas.microsoft.com/office/drawing/2014/main" id="{1B7A6073-4E6A-20AC-9AA7-90F462309B66}"/>
              </a:ext>
            </a:extLst>
          </p:cNvPr>
          <p:cNvPicPr>
            <a:picLocks noChangeAspect="1"/>
          </p:cNvPicPr>
          <p:nvPr/>
        </p:nvPicPr>
        <p:blipFill>
          <a:blip r:embed="rId2"/>
          <a:stretch>
            <a:fillRect/>
          </a:stretch>
        </p:blipFill>
        <p:spPr>
          <a:xfrm>
            <a:off x="5731142" y="1767504"/>
            <a:ext cx="3223287" cy="2002889"/>
          </a:xfrm>
          <a:prstGeom prst="rect">
            <a:avLst/>
          </a:prstGeom>
        </p:spPr>
      </p:pic>
      <p:sp>
        <p:nvSpPr>
          <p:cNvPr id="7" name="TekstSylinder 6">
            <a:extLst>
              <a:ext uri="{FF2B5EF4-FFF2-40B4-BE49-F238E27FC236}">
                <a16:creationId xmlns:a16="http://schemas.microsoft.com/office/drawing/2014/main" id="{24A1BB11-E9E4-ABF2-D814-00F0569F2638}"/>
              </a:ext>
            </a:extLst>
          </p:cNvPr>
          <p:cNvSpPr txBox="1"/>
          <p:nvPr/>
        </p:nvSpPr>
        <p:spPr>
          <a:xfrm>
            <a:off x="5843240" y="3855959"/>
            <a:ext cx="3111189" cy="738664"/>
          </a:xfrm>
          <a:prstGeom prst="rect">
            <a:avLst/>
          </a:prstGeom>
          <a:noFill/>
        </p:spPr>
        <p:txBody>
          <a:bodyPr wrap="square" rtlCol="0">
            <a:spAutoFit/>
          </a:bodyPr>
          <a:lstStyle/>
          <a:p>
            <a:pPr algn="just"/>
            <a:r>
              <a:rPr lang="nb-NO" sz="1400" dirty="0" err="1"/>
              <a:t>Illustration</a:t>
            </a:r>
            <a:r>
              <a:rPr lang="nb-NO" sz="1400" dirty="0"/>
              <a:t> </a:t>
            </a:r>
            <a:r>
              <a:rPr lang="nb-NO" sz="1400" dirty="0" err="1"/>
              <a:t>of</a:t>
            </a:r>
            <a:r>
              <a:rPr lang="nb-NO" sz="1400" dirty="0"/>
              <a:t> </a:t>
            </a:r>
            <a:r>
              <a:rPr lang="nb-NO" sz="1400" dirty="0" err="1"/>
              <a:t>how</a:t>
            </a:r>
            <a:r>
              <a:rPr lang="nb-NO" sz="1400" dirty="0"/>
              <a:t> LIME </a:t>
            </a:r>
            <a:r>
              <a:rPr lang="nb-NO" sz="1400" dirty="0" err="1"/>
              <a:t>works</a:t>
            </a:r>
            <a:r>
              <a:rPr lang="nb-NO" sz="1400" dirty="0"/>
              <a:t>: a </a:t>
            </a:r>
            <a:r>
              <a:rPr lang="nb-NO" sz="1400" dirty="0" err="1"/>
              <a:t>complex</a:t>
            </a:r>
            <a:r>
              <a:rPr lang="nb-NO" sz="1400" dirty="0"/>
              <a:t> </a:t>
            </a:r>
            <a:r>
              <a:rPr lang="nb-NO" sz="1400" dirty="0" err="1"/>
              <a:t>inter-class</a:t>
            </a:r>
            <a:r>
              <a:rPr lang="nb-NO" sz="1400" dirty="0"/>
              <a:t> </a:t>
            </a:r>
            <a:r>
              <a:rPr lang="nb-NO" sz="1400" dirty="0" err="1"/>
              <a:t>boundary</a:t>
            </a:r>
            <a:r>
              <a:rPr lang="nb-NO" sz="1400" dirty="0"/>
              <a:t> </a:t>
            </a:r>
            <a:r>
              <a:rPr lang="nb-NO" sz="1400" dirty="0" err="1"/>
              <a:t>locally</a:t>
            </a:r>
            <a:r>
              <a:rPr lang="nb-NO" sz="1400" dirty="0"/>
              <a:t> is </a:t>
            </a:r>
            <a:r>
              <a:rPr lang="nb-NO" sz="1400" dirty="0" err="1"/>
              <a:t>approximated</a:t>
            </a:r>
            <a:r>
              <a:rPr lang="nb-NO" sz="1400" dirty="0"/>
              <a:t> by a straight line.</a:t>
            </a:r>
            <a:endParaRPr lang="en-150" sz="1400" dirty="0"/>
          </a:p>
        </p:txBody>
      </p:sp>
      <p:sp>
        <p:nvSpPr>
          <p:cNvPr id="9" name="TekstSylinder 8">
            <a:extLst>
              <a:ext uri="{FF2B5EF4-FFF2-40B4-BE49-F238E27FC236}">
                <a16:creationId xmlns:a16="http://schemas.microsoft.com/office/drawing/2014/main" id="{52FADCED-0A7A-D671-32A2-BE1ED3005B8B}"/>
              </a:ext>
            </a:extLst>
          </p:cNvPr>
          <p:cNvSpPr txBox="1"/>
          <p:nvPr/>
        </p:nvSpPr>
        <p:spPr>
          <a:xfrm>
            <a:off x="317635" y="878209"/>
            <a:ext cx="8709277" cy="523220"/>
          </a:xfrm>
          <a:prstGeom prst="rect">
            <a:avLst/>
          </a:prstGeom>
          <a:noFill/>
        </p:spPr>
        <p:txBody>
          <a:bodyPr wrap="square">
            <a:spAutoFit/>
          </a:bodyPr>
          <a:lstStyle/>
          <a:p>
            <a:pPr marL="0" indent="0" algn="just">
              <a:buNone/>
            </a:pPr>
            <a:r>
              <a:rPr lang="en-US" sz="1400" dirty="0"/>
              <a:t>LIME (</a:t>
            </a:r>
            <a:r>
              <a:rPr lang="nb-NO" sz="1400" dirty="0" err="1"/>
              <a:t>Local</a:t>
            </a:r>
            <a:r>
              <a:rPr lang="nb-NO" sz="1400" dirty="0"/>
              <a:t> </a:t>
            </a:r>
            <a:r>
              <a:rPr lang="nb-NO" sz="1400" dirty="0" err="1"/>
              <a:t>Interpretable</a:t>
            </a:r>
            <a:r>
              <a:rPr lang="nb-NO" sz="1400" dirty="0"/>
              <a:t> Model-</a:t>
            </a:r>
            <a:r>
              <a:rPr lang="nb-NO" sz="1400" dirty="0" err="1"/>
              <a:t>agnostic</a:t>
            </a:r>
            <a:r>
              <a:rPr lang="nb-NO" sz="1400" dirty="0"/>
              <a:t> </a:t>
            </a:r>
            <a:r>
              <a:rPr lang="nb-NO" sz="1400" dirty="0" err="1"/>
              <a:t>Explanations</a:t>
            </a:r>
            <a:r>
              <a:rPr lang="nb-NO" sz="1400" dirty="0"/>
              <a:t>)</a:t>
            </a:r>
            <a:r>
              <a:rPr lang="en-US" sz="1400" dirty="0"/>
              <a:t> explains a prediction by approximating the complex model locally with a simpler, interpretable model around the specific instance being explained.</a:t>
            </a:r>
          </a:p>
        </p:txBody>
      </p:sp>
    </p:spTree>
    <p:extLst>
      <p:ext uri="{BB962C8B-B14F-4D97-AF65-F5344CB8AC3E}">
        <p14:creationId xmlns:p14="http://schemas.microsoft.com/office/powerpoint/2010/main" val="3226598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E8B75E4-0A6C-0998-976E-D53493EA572D}"/>
              </a:ext>
            </a:extLst>
          </p:cNvPr>
          <p:cNvSpPr>
            <a:spLocks noGrp="1"/>
          </p:cNvSpPr>
          <p:nvPr>
            <p:ph type="title"/>
          </p:nvPr>
        </p:nvSpPr>
        <p:spPr/>
        <p:txBody>
          <a:bodyPr/>
          <a:lstStyle/>
          <a:p>
            <a:r>
              <a:rPr lang="nb-NO" dirty="0" err="1"/>
              <a:t>Adversarial</a:t>
            </a:r>
            <a:r>
              <a:rPr lang="nb-NO" dirty="0"/>
              <a:t> </a:t>
            </a:r>
            <a:r>
              <a:rPr lang="nb-NO" dirty="0" err="1"/>
              <a:t>attacks</a:t>
            </a:r>
            <a:endParaRPr lang="en-150" dirty="0"/>
          </a:p>
        </p:txBody>
      </p:sp>
      <p:sp>
        <p:nvSpPr>
          <p:cNvPr id="7" name="TekstSylinder 6">
            <a:extLst>
              <a:ext uri="{FF2B5EF4-FFF2-40B4-BE49-F238E27FC236}">
                <a16:creationId xmlns:a16="http://schemas.microsoft.com/office/drawing/2014/main" id="{B957BB3E-C4B6-557E-DE87-355A2B087CE3}"/>
              </a:ext>
            </a:extLst>
          </p:cNvPr>
          <p:cNvSpPr txBox="1"/>
          <p:nvPr/>
        </p:nvSpPr>
        <p:spPr>
          <a:xfrm>
            <a:off x="293570" y="953491"/>
            <a:ext cx="8593952" cy="738664"/>
          </a:xfrm>
          <a:prstGeom prst="rect">
            <a:avLst/>
          </a:prstGeom>
          <a:noFill/>
        </p:spPr>
        <p:txBody>
          <a:bodyPr wrap="square">
            <a:spAutoFit/>
          </a:bodyPr>
          <a:lstStyle/>
          <a:p>
            <a:r>
              <a:rPr lang="en-US" sz="1400" dirty="0"/>
              <a:t>Adversarial attacks involve subtly modifying input data (like images) to fool machine learning models into making incorrect predictions. These modifications are often imperceptible to humans but can lead to dramatically different model outputs.</a:t>
            </a:r>
            <a:endParaRPr lang="en-150" sz="1400" dirty="0"/>
          </a:p>
        </p:txBody>
      </p:sp>
      <p:pic>
        <p:nvPicPr>
          <p:cNvPr id="11" name="Bilde 10" descr="Et bilde som inneholder pattedyr, gris, Suidae, snute&#10;&#10;Automatisk generert beskrivelse">
            <a:extLst>
              <a:ext uri="{FF2B5EF4-FFF2-40B4-BE49-F238E27FC236}">
                <a16:creationId xmlns:a16="http://schemas.microsoft.com/office/drawing/2014/main" id="{D6C30902-A526-10A5-8E5F-6E66979B51DD}"/>
              </a:ext>
            </a:extLst>
          </p:cNvPr>
          <p:cNvPicPr>
            <a:picLocks noChangeAspect="1"/>
          </p:cNvPicPr>
          <p:nvPr/>
        </p:nvPicPr>
        <p:blipFill>
          <a:blip r:embed="rId2"/>
          <a:stretch>
            <a:fillRect/>
          </a:stretch>
        </p:blipFill>
        <p:spPr>
          <a:xfrm>
            <a:off x="465563" y="1998019"/>
            <a:ext cx="8212873" cy="2463862"/>
          </a:xfrm>
          <a:prstGeom prst="rect">
            <a:avLst/>
          </a:prstGeom>
        </p:spPr>
      </p:pic>
    </p:spTree>
    <p:extLst>
      <p:ext uri="{BB962C8B-B14F-4D97-AF65-F5344CB8AC3E}">
        <p14:creationId xmlns:p14="http://schemas.microsoft.com/office/powerpoint/2010/main" val="3407454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E8B75E4-0A6C-0998-976E-D53493EA572D}"/>
              </a:ext>
            </a:extLst>
          </p:cNvPr>
          <p:cNvSpPr>
            <a:spLocks noGrp="1"/>
          </p:cNvSpPr>
          <p:nvPr>
            <p:ph type="title"/>
          </p:nvPr>
        </p:nvSpPr>
        <p:spPr/>
        <p:txBody>
          <a:bodyPr/>
          <a:lstStyle/>
          <a:p>
            <a:r>
              <a:rPr lang="nb-NO" dirty="0" err="1"/>
              <a:t>Adversarial</a:t>
            </a:r>
            <a:r>
              <a:rPr lang="nb-NO" dirty="0"/>
              <a:t> </a:t>
            </a:r>
            <a:r>
              <a:rPr lang="nb-NO" dirty="0" err="1"/>
              <a:t>attacks</a:t>
            </a:r>
            <a:endParaRPr lang="en-150" dirty="0"/>
          </a:p>
        </p:txBody>
      </p:sp>
      <p:sp>
        <p:nvSpPr>
          <p:cNvPr id="7" name="TekstSylinder 6">
            <a:extLst>
              <a:ext uri="{FF2B5EF4-FFF2-40B4-BE49-F238E27FC236}">
                <a16:creationId xmlns:a16="http://schemas.microsoft.com/office/drawing/2014/main" id="{B957BB3E-C4B6-557E-DE87-355A2B087CE3}"/>
              </a:ext>
            </a:extLst>
          </p:cNvPr>
          <p:cNvSpPr txBox="1"/>
          <p:nvPr/>
        </p:nvSpPr>
        <p:spPr>
          <a:xfrm>
            <a:off x="293569" y="1125200"/>
            <a:ext cx="8532795" cy="2893100"/>
          </a:xfrm>
          <a:prstGeom prst="rect">
            <a:avLst/>
          </a:prstGeom>
          <a:noFill/>
        </p:spPr>
        <p:txBody>
          <a:bodyPr wrap="square">
            <a:spAutoFit/>
          </a:bodyPr>
          <a:lstStyle/>
          <a:p>
            <a:r>
              <a:rPr lang="en-US" sz="1400" dirty="0"/>
              <a:t>Adversarial attacks play a significant role in explainable AI by helping to:</a:t>
            </a:r>
            <a:endParaRPr lang="en-US" sz="1400" b="1" dirty="0"/>
          </a:p>
          <a:p>
            <a:pPr>
              <a:buFont typeface="+mj-lt"/>
              <a:buAutoNum type="arabicPeriod"/>
            </a:pPr>
            <a:endParaRPr lang="en-US" sz="1400" b="1" dirty="0"/>
          </a:p>
          <a:p>
            <a:r>
              <a:rPr lang="en-US" sz="1400" b="1" dirty="0"/>
              <a:t>Improve Model Robustness</a:t>
            </a:r>
            <a:r>
              <a:rPr lang="en-US" sz="1400" dirty="0"/>
              <a:t>: Identify and address vulnerabilities in AI models, leading to the development of systems that are both more accurate and reliable.</a:t>
            </a:r>
          </a:p>
          <a:p>
            <a:endParaRPr lang="en-US" sz="1400" dirty="0"/>
          </a:p>
          <a:p>
            <a:r>
              <a:rPr lang="en-US" sz="1400" b="1" dirty="0"/>
              <a:t>Highlight Feature Importance</a:t>
            </a:r>
            <a:r>
              <a:rPr lang="en-US" sz="1400" dirty="0"/>
              <a:t>: Uncover which features models </a:t>
            </a:r>
            <a:r>
              <a:rPr lang="en-US" sz="1400" dirty="0" err="1"/>
              <a:t>prioritise</a:t>
            </a:r>
            <a:r>
              <a:rPr lang="en-US" sz="1400" dirty="0"/>
              <a:t> for their decisions, which can reveal misalignments between model reasoning and human intuition.</a:t>
            </a:r>
          </a:p>
          <a:p>
            <a:endParaRPr lang="en-US" sz="1400" dirty="0"/>
          </a:p>
          <a:p>
            <a:r>
              <a:rPr lang="en-US" sz="1400" b="1" dirty="0"/>
              <a:t>Facilitate Error Analysis</a:t>
            </a:r>
            <a:r>
              <a:rPr lang="en-US" sz="1400" dirty="0"/>
              <a:t>: Offer insights into conditions under which models might fail, crucial for enhancing reliability in critical applications.</a:t>
            </a:r>
          </a:p>
          <a:p>
            <a:endParaRPr lang="en-US" sz="1400" dirty="0"/>
          </a:p>
          <a:p>
            <a:r>
              <a:rPr lang="en-US" sz="1400" b="1" dirty="0"/>
              <a:t>Enhance Training Through Data Augmentation</a:t>
            </a:r>
            <a:r>
              <a:rPr lang="en-US" sz="1400" dirty="0"/>
              <a:t>: Use adversarial examples as additional training data to teach models to correctly classify perturbed inputs.</a:t>
            </a:r>
          </a:p>
        </p:txBody>
      </p:sp>
    </p:spTree>
    <p:extLst>
      <p:ext uri="{BB962C8B-B14F-4D97-AF65-F5344CB8AC3E}">
        <p14:creationId xmlns:p14="http://schemas.microsoft.com/office/powerpoint/2010/main" val="1768562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E8B75E4-0A6C-0998-976E-D53493EA572D}"/>
              </a:ext>
            </a:extLst>
          </p:cNvPr>
          <p:cNvSpPr>
            <a:spLocks noGrp="1"/>
          </p:cNvSpPr>
          <p:nvPr>
            <p:ph type="title"/>
          </p:nvPr>
        </p:nvSpPr>
        <p:spPr/>
        <p:txBody>
          <a:bodyPr/>
          <a:lstStyle/>
          <a:p>
            <a:r>
              <a:rPr lang="nb-NO" dirty="0" err="1"/>
              <a:t>Concept</a:t>
            </a:r>
            <a:r>
              <a:rPr lang="nb-NO" dirty="0"/>
              <a:t> </a:t>
            </a:r>
            <a:r>
              <a:rPr lang="nb-NO" dirty="0" err="1"/>
              <a:t>bottleneck</a:t>
            </a:r>
            <a:r>
              <a:rPr lang="nb-NO" dirty="0"/>
              <a:t> </a:t>
            </a:r>
            <a:r>
              <a:rPr lang="nb-NO" dirty="0" err="1"/>
              <a:t>models</a:t>
            </a:r>
            <a:endParaRPr lang="en-150" dirty="0"/>
          </a:p>
        </p:txBody>
      </p:sp>
      <p:sp>
        <p:nvSpPr>
          <p:cNvPr id="3" name="Plassholder for innhold 2">
            <a:extLst>
              <a:ext uri="{FF2B5EF4-FFF2-40B4-BE49-F238E27FC236}">
                <a16:creationId xmlns:a16="http://schemas.microsoft.com/office/drawing/2014/main" id="{5786A679-4E08-038F-FA7F-0B997A1FF041}"/>
              </a:ext>
            </a:extLst>
          </p:cNvPr>
          <p:cNvSpPr>
            <a:spLocks noGrp="1"/>
          </p:cNvSpPr>
          <p:nvPr>
            <p:ph idx="1"/>
          </p:nvPr>
        </p:nvSpPr>
        <p:spPr>
          <a:xfrm>
            <a:off x="293571" y="943276"/>
            <a:ext cx="4139040" cy="3651347"/>
          </a:xfrm>
        </p:spPr>
        <p:txBody>
          <a:bodyPr>
            <a:normAutofit lnSpcReduction="10000"/>
          </a:bodyPr>
          <a:lstStyle/>
          <a:p>
            <a:pPr marL="0" indent="0" algn="just">
              <a:buNone/>
            </a:pPr>
            <a:r>
              <a:rPr lang="en-US" sz="1600" dirty="0"/>
              <a:t>Concept bottleneck models “force” the model to learn meaningful concepts that contribute to the final decision. For example, bird species classification based on wing </a:t>
            </a:r>
            <a:r>
              <a:rPr lang="en-US" sz="1600" dirty="0" err="1"/>
              <a:t>colour</a:t>
            </a:r>
            <a:r>
              <a:rPr lang="en-US" sz="1600" dirty="0"/>
              <a:t>, beak length, etc.</a:t>
            </a:r>
          </a:p>
          <a:p>
            <a:pPr marL="0" indent="0" algn="just">
              <a:buNone/>
            </a:pPr>
            <a:endParaRPr lang="en-US" sz="1600" dirty="0"/>
          </a:p>
          <a:p>
            <a:pPr marL="0" indent="0" algn="just">
              <a:buNone/>
            </a:pPr>
            <a:r>
              <a:rPr lang="en-US" sz="1600" dirty="0"/>
              <a:t>They enable interpretation in terms of high-level concepts and allow for richer human-model interaction: accuracy improves significantly if we can correct model mistakes on concepts at test time.</a:t>
            </a:r>
          </a:p>
          <a:p>
            <a:pPr marL="0" indent="0" algn="just">
              <a:buNone/>
            </a:pPr>
            <a:endParaRPr lang="nb-NO" sz="1600" dirty="0"/>
          </a:p>
          <a:p>
            <a:pPr marL="0" indent="0" algn="just">
              <a:buNone/>
            </a:pPr>
            <a:r>
              <a:rPr lang="en-US" sz="1200" dirty="0"/>
              <a:t>Koh, Pang Wei, et al. "Concept bottleneck models." </a:t>
            </a:r>
            <a:r>
              <a:rPr lang="en-US" sz="1200" i="1" dirty="0"/>
              <a:t>International conference on machine learning</a:t>
            </a:r>
            <a:r>
              <a:rPr lang="en-US" sz="1200" dirty="0"/>
              <a:t>. PMLR, 2020.</a:t>
            </a:r>
          </a:p>
          <a:p>
            <a:pPr marL="0" indent="0" algn="just">
              <a:buNone/>
            </a:pPr>
            <a:endParaRPr lang="en-US" sz="1600" dirty="0"/>
          </a:p>
        </p:txBody>
      </p:sp>
      <p:pic>
        <p:nvPicPr>
          <p:cNvPr id="5" name="Bilde 4">
            <a:extLst>
              <a:ext uri="{FF2B5EF4-FFF2-40B4-BE49-F238E27FC236}">
                <a16:creationId xmlns:a16="http://schemas.microsoft.com/office/drawing/2014/main" id="{E7726462-60FE-0D82-D995-3AD49B9DCA96}"/>
              </a:ext>
            </a:extLst>
          </p:cNvPr>
          <p:cNvPicPr>
            <a:picLocks noChangeAspect="1"/>
          </p:cNvPicPr>
          <p:nvPr/>
        </p:nvPicPr>
        <p:blipFill>
          <a:blip r:embed="rId2"/>
          <a:stretch>
            <a:fillRect/>
          </a:stretch>
        </p:blipFill>
        <p:spPr>
          <a:xfrm>
            <a:off x="4638906" y="852310"/>
            <a:ext cx="4403793" cy="3741952"/>
          </a:xfrm>
          <a:prstGeom prst="rect">
            <a:avLst/>
          </a:prstGeom>
        </p:spPr>
      </p:pic>
    </p:spTree>
    <p:extLst>
      <p:ext uri="{BB962C8B-B14F-4D97-AF65-F5344CB8AC3E}">
        <p14:creationId xmlns:p14="http://schemas.microsoft.com/office/powerpoint/2010/main" val="19768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endParaRPr lang="en-NZ" dirty="0"/>
          </a:p>
        </p:txBody>
      </p:sp>
      <p:sp>
        <p:nvSpPr>
          <p:cNvPr id="3" name="Content Placeholder 2"/>
          <p:cNvSpPr>
            <a:spLocks noGrp="1"/>
          </p:cNvSpPr>
          <p:nvPr>
            <p:ph idx="1"/>
          </p:nvPr>
        </p:nvSpPr>
        <p:spPr/>
        <p:txBody>
          <a:bodyPr>
            <a:normAutofit/>
          </a:bodyPr>
          <a:lstStyle/>
          <a:p>
            <a:r>
              <a:rPr lang="en-US" sz="1600" dirty="0"/>
              <a:t>Definitions, why explainability?</a:t>
            </a:r>
          </a:p>
          <a:p>
            <a:r>
              <a:rPr lang="en-US" sz="1600" dirty="0"/>
              <a:t>Inherently interpretable models</a:t>
            </a:r>
          </a:p>
          <a:p>
            <a:r>
              <a:rPr lang="en-US" sz="1600" dirty="0"/>
              <a:t>XAI techniques: Saliency maps, SHAP, LIME, concept bottleneck</a:t>
            </a:r>
          </a:p>
          <a:p>
            <a:r>
              <a:rPr lang="en-US" sz="1600" dirty="0"/>
              <a:t>Adversarial attacks</a:t>
            </a:r>
          </a:p>
        </p:txBody>
      </p:sp>
      <p:sp>
        <p:nvSpPr>
          <p:cNvPr id="4" name="Slide Number Placeholder 3"/>
          <p:cNvSpPr>
            <a:spLocks noGrp="1"/>
          </p:cNvSpPr>
          <p:nvPr>
            <p:ph type="sldNum" sz="quarter" idx="11"/>
          </p:nvPr>
        </p:nvSpPr>
        <p:spPr/>
        <p:txBody>
          <a:bodyPr/>
          <a:lstStyle/>
          <a:p>
            <a:r>
              <a:rPr lang="en-NZ" dirty="0"/>
              <a:t> </a:t>
            </a:r>
          </a:p>
        </p:txBody>
      </p:sp>
    </p:spTree>
    <p:extLst>
      <p:ext uri="{BB962C8B-B14F-4D97-AF65-F5344CB8AC3E}">
        <p14:creationId xmlns:p14="http://schemas.microsoft.com/office/powerpoint/2010/main" val="1940577578"/>
      </p:ext>
    </p:extLst>
  </p:cSld>
  <p:clrMapOvr>
    <a:masterClrMapping/>
  </p:clrMapOvr>
</p:sld>
</file>

<file path=ppt/theme/theme1.xml><?xml version="1.0" encoding="utf-8"?>
<a:theme xmlns:a="http://schemas.openxmlformats.org/drawingml/2006/main" name="Office-tema">
  <a:themeElements>
    <a:clrScheme name="NTNU FARGER UU">
      <a:dk1>
        <a:srgbClr val="000000"/>
      </a:dk1>
      <a:lt1>
        <a:srgbClr val="FFFFFF"/>
      </a:lt1>
      <a:dk2>
        <a:srgbClr val="014693"/>
      </a:dk2>
      <a:lt2>
        <a:srgbClr val="D6D7D6"/>
      </a:lt2>
      <a:accent1>
        <a:srgbClr val="B6C8E9"/>
      </a:accent1>
      <a:accent2>
        <a:srgbClr val="014693"/>
      </a:accent2>
      <a:accent3>
        <a:srgbClr val="BCD024"/>
      </a:accent3>
      <a:accent4>
        <a:srgbClr val="B01B81"/>
      </a:accent4>
      <a:accent5>
        <a:srgbClr val="F7D019"/>
      </a:accent5>
      <a:accent6>
        <a:srgbClr val="ED8013"/>
      </a:accent6>
      <a:hlink>
        <a:srgbClr val="3D2A68"/>
      </a:hlink>
      <a:folHlink>
        <a:srgbClr val="338C8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3B7B0"/>
        </a:solidFill>
        <a:ln>
          <a:noFill/>
        </a:ln>
        <a:effectLst>
          <a:outerShdw blurRad="114300" dist="12700" dir="5400000" rotWithShape="0">
            <a:srgbClr val="000000">
              <a:alpha val="35000"/>
            </a:srgb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3503</TotalTime>
  <Words>1257</Words>
  <Application>Microsoft Office PowerPoint</Application>
  <PresentationFormat>Skjermfremvisning (16:9)</PresentationFormat>
  <Paragraphs>84</Paragraphs>
  <Slides>16</Slides>
  <Notes>0</Notes>
  <HiddenSlides>0</HiddenSlides>
  <MMClips>0</MMClips>
  <ScaleCrop>false</ScaleCrop>
  <HeadingPairs>
    <vt:vector size="6" baseType="variant">
      <vt:variant>
        <vt:lpstr>Brukte skrifter</vt:lpstr>
      </vt:variant>
      <vt:variant>
        <vt:i4>2</vt:i4>
      </vt:variant>
      <vt:variant>
        <vt:lpstr>Tema</vt:lpstr>
      </vt:variant>
      <vt:variant>
        <vt:i4>1</vt:i4>
      </vt:variant>
      <vt:variant>
        <vt:lpstr>Lysbildetitler</vt:lpstr>
      </vt:variant>
      <vt:variant>
        <vt:i4>16</vt:i4>
      </vt:variant>
    </vt:vector>
  </HeadingPairs>
  <TitlesOfParts>
    <vt:vector size="19" baseType="lpstr">
      <vt:lpstr>Arial</vt:lpstr>
      <vt:lpstr>Calibri</vt:lpstr>
      <vt:lpstr>Office-tema</vt:lpstr>
      <vt:lpstr>IDIG4004: Computer Vision and Applications Spring 2024</vt:lpstr>
      <vt:lpstr>Outline</vt:lpstr>
      <vt:lpstr>Some definitions</vt:lpstr>
      <vt:lpstr>Why do we need interpretability and explainability?</vt:lpstr>
      <vt:lpstr>Stages of AI explainability</vt:lpstr>
      <vt:lpstr>The «interpretability spectrum»</vt:lpstr>
      <vt:lpstr>Inherently interpretable models: Linear regression</vt:lpstr>
      <vt:lpstr>Inherently interpretable models: Linear regression</vt:lpstr>
      <vt:lpstr>Inherently interpretable models: Decision tree</vt:lpstr>
      <vt:lpstr>Saliency maps</vt:lpstr>
      <vt:lpstr>SHAP</vt:lpstr>
      <vt:lpstr>LIME</vt:lpstr>
      <vt:lpstr>Adversarial attacks</vt:lpstr>
      <vt:lpstr>Adversarial attacks</vt:lpstr>
      <vt:lpstr>Concept bottleneck models</vt:lpstr>
      <vt:lpstr>Summary</vt:lpstr>
    </vt:vector>
  </TitlesOfParts>
  <Company>NTNU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PowerPoint-presentasjon</dc:title>
  <dc:creator>Kolbjørn Skarpnes</dc:creator>
  <cp:lastModifiedBy>Steven Yves Le Moan</cp:lastModifiedBy>
  <cp:revision>292</cp:revision>
  <dcterms:created xsi:type="dcterms:W3CDTF">2013-06-10T16:56:09Z</dcterms:created>
  <dcterms:modified xsi:type="dcterms:W3CDTF">2024-04-04T07:54:56Z</dcterms:modified>
</cp:coreProperties>
</file>